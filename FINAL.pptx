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nva Sans Bold" panose="020B0604020202020204" charset="0"/>
      <p:regular r:id="rId17"/>
    </p:embeddedFont>
    <p:embeddedFont>
      <p:font typeface="Inter" panose="020B0604020202020204" charset="0"/>
      <p:regular r:id="rId18"/>
    </p:embeddedFont>
    <p:embeddedFont>
      <p:font typeface="Calibri" panose="020F0502020204030204" pitchFamily="34" charset="0"/>
      <p:regular r:id="rId19"/>
      <p:bold r:id="rId20"/>
      <p:italic r:id="rId21"/>
      <p:boldItalic r:id="rId22"/>
    </p:embeddedFont>
    <p:embeddedFont>
      <p:font typeface="League Spartan" panose="020B0604020202020204" charset="0"/>
      <p:regular r:id="rId23"/>
    </p:embeddedFont>
    <p:embeddedFont>
      <p:font typeface="Anton" panose="020B0604020202020204" charset="0"/>
      <p:regular r:id="rId24"/>
    </p:embeddedFont>
    <p:embeddedFont>
      <p:font typeface="Poppins Bold" panose="020B0604020202020204" charset="0"/>
      <p:regular r:id="rId25"/>
    </p:embeddedFont>
    <p:embeddedFont>
      <p:font typeface="Bebas Neue Bold" panose="020B0604020202020204" charset="0"/>
      <p:regular r:id="rId26"/>
    </p:embeddedFont>
    <p:embeddedFont>
      <p:font typeface="Alegreya Sans SC Bold" panose="020B0604020202020204" charset="0"/>
      <p:regular r:id="rId27"/>
    </p:embeddedFont>
    <p:embeddedFont>
      <p:font typeface="Impact" panose="020B0806030902050204" pitchFamily="34" charset="0"/>
      <p:regular r:id="rId28"/>
    </p:embeddedFont>
    <p:embeddedFont>
      <p:font typeface="Tomorrow" panose="020B0604020202020204" charset="0"/>
      <p:regular r:id="rId29"/>
    </p:embeddedFont>
    <p:embeddedFont>
      <p:font typeface="Alegreya Heavy" panose="020B0604020202020204" charset="0"/>
      <p:regular r:id="rId30"/>
    </p:embeddedFont>
    <p:embeddedFont>
      <p:font typeface="Inter Bold" panose="020B0604020202020204" charset="0"/>
      <p:regular r:id="rId31"/>
    </p:embeddedFont>
    <p:embeddedFont>
      <p:font typeface="Poppins" panose="020B0604020202020204" charset="0"/>
      <p:regular r:id="rId32"/>
    </p:embeddedFont>
    <p:embeddedFont>
      <p:font typeface="Fira Sans" panose="020B0604020202020204" charset="0"/>
      <p:regular r:id="rId33"/>
    </p:embeddedFont>
    <p:embeddedFont>
      <p:font typeface="Quicksand" panose="020B0604020202020204" charset="0"/>
      <p:regular r:id="rId34"/>
    </p:embeddedFont>
    <p:embeddedFont>
      <p:font typeface="Be Vietnam Ultra-Bold" panose="020B0604020202020204" charset="0"/>
      <p:regular r:id="rId35"/>
    </p:embeddedFont>
    <p:embeddedFont>
      <p:font typeface="Open Sans 2 Bold" panose="020B0604020202020204" charset="0"/>
      <p:regular r:id="rId36"/>
    </p:embeddedFont>
    <p:embeddedFont>
      <p:font typeface="Lato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476" y="-5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0.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22.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20.png"/><Relationship Id="rId4" Type="http://schemas.openxmlformats.org/officeDocument/2006/relationships/image" Target="../media/image3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18.sv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46.svg"/><Relationship Id="rId3" Type="http://schemas.openxmlformats.org/officeDocument/2006/relationships/image" Target="../media/image36.svg"/><Relationship Id="rId7" Type="http://schemas.openxmlformats.org/officeDocument/2006/relationships/image" Target="../media/image40.svg"/><Relationship Id="rId12" Type="http://schemas.openxmlformats.org/officeDocument/2006/relationships/image" Target="../media/image27.png"/><Relationship Id="rId17" Type="http://schemas.openxmlformats.org/officeDocument/2006/relationships/image" Target="../media/image50.svg"/><Relationship Id="rId2" Type="http://schemas.openxmlformats.org/officeDocument/2006/relationships/image" Target="../media/image22.png"/><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44.svg"/><Relationship Id="rId5" Type="http://schemas.openxmlformats.org/officeDocument/2006/relationships/image" Target="../media/image38.svg"/><Relationship Id="rId15" Type="http://schemas.openxmlformats.org/officeDocument/2006/relationships/image" Target="../media/image48.svg"/><Relationship Id="rId10" Type="http://schemas.openxmlformats.org/officeDocument/2006/relationships/image" Target="../media/image26.png"/><Relationship Id="rId4" Type="http://schemas.openxmlformats.org/officeDocument/2006/relationships/image" Target="../media/image23.png"/><Relationship Id="rId9" Type="http://schemas.openxmlformats.org/officeDocument/2006/relationships/image" Target="../media/image42.svg"/><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65.svg"/><Relationship Id="rId5" Type="http://schemas.openxmlformats.org/officeDocument/2006/relationships/image" Target="../media/image59.svg"/><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image" Target="../media/image63.sv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366517">
            <a:off x="8172982" y="-1473762"/>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493551">
            <a:off x="-3091661" y="3509943"/>
            <a:ext cx="15325477" cy="8242765"/>
          </a:xfrm>
          <a:custGeom>
            <a:avLst/>
            <a:gdLst/>
            <a:ahLst/>
            <a:cxnLst/>
            <a:rect l="l" t="t" r="r" b="b"/>
            <a:pathLst>
              <a:path w="15325477" h="8242765">
                <a:moveTo>
                  <a:pt x="0" y="0"/>
                </a:moveTo>
                <a:lnTo>
                  <a:pt x="15325477" y="0"/>
                </a:lnTo>
                <a:lnTo>
                  <a:pt x="15325477" y="8242765"/>
                </a:lnTo>
                <a:lnTo>
                  <a:pt x="0" y="824276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4350042" y="349542"/>
            <a:ext cx="9587917" cy="9587917"/>
          </a:xfrm>
          <a:custGeom>
            <a:avLst/>
            <a:gdLst/>
            <a:ahLst/>
            <a:cxnLst/>
            <a:rect l="l" t="t" r="r" b="b"/>
            <a:pathLst>
              <a:path w="9587917" h="9587917">
                <a:moveTo>
                  <a:pt x="0" y="0"/>
                </a:moveTo>
                <a:lnTo>
                  <a:pt x="9587916" y="0"/>
                </a:lnTo>
                <a:lnTo>
                  <a:pt x="9587916" y="9587916"/>
                </a:lnTo>
                <a:lnTo>
                  <a:pt x="0" y="9587916"/>
                </a:lnTo>
                <a:lnTo>
                  <a:pt x="0" y="0"/>
                </a:lnTo>
                <a:close/>
              </a:path>
            </a:pathLst>
          </a:custGeom>
          <a:blipFill>
            <a:blip r:embed="rId6">
              <a:alphaModFix amt="30000"/>
              <a:extLst>
                <a:ext uri="{96DAC541-7B7A-43D3-8B79-37D633B846F1}">
                  <asvg:svgBlip xmlns:asvg="http://schemas.microsoft.com/office/drawing/2016/SVG/main" xmlns="" r:embed="rId7"/>
                </a:ext>
              </a:extLst>
            </a:blip>
            <a:stretch>
              <a:fillRect/>
            </a:stretch>
          </a:blipFill>
        </p:spPr>
      </p:sp>
      <p:sp>
        <p:nvSpPr>
          <p:cNvPr id="5" name="TextBox 5"/>
          <p:cNvSpPr txBox="1"/>
          <p:nvPr/>
        </p:nvSpPr>
        <p:spPr>
          <a:xfrm>
            <a:off x="1984372" y="3984225"/>
            <a:ext cx="14319257" cy="2841153"/>
          </a:xfrm>
          <a:prstGeom prst="rect">
            <a:avLst/>
          </a:prstGeom>
        </p:spPr>
        <p:txBody>
          <a:bodyPr lIns="0" tIns="0" rIns="0" bIns="0" rtlCol="0" anchor="t">
            <a:spAutoFit/>
          </a:bodyPr>
          <a:lstStyle/>
          <a:p>
            <a:pPr algn="ctr">
              <a:lnSpc>
                <a:spcPts val="20851"/>
              </a:lnSpc>
            </a:pPr>
            <a:r>
              <a:rPr lang="en-US" sz="14893">
                <a:solidFill>
                  <a:srgbClr val="FFFFFF"/>
                </a:solidFill>
                <a:latin typeface="Impact"/>
                <a:ea typeface="Impact"/>
                <a:cs typeface="Impact"/>
                <a:sym typeface="Impact"/>
              </a:rPr>
              <a:t>EALPR SYSTEM</a:t>
            </a:r>
          </a:p>
        </p:txBody>
      </p:sp>
      <p:sp>
        <p:nvSpPr>
          <p:cNvPr id="6" name="TextBox 6"/>
          <p:cNvSpPr txBox="1"/>
          <p:nvPr/>
        </p:nvSpPr>
        <p:spPr>
          <a:xfrm>
            <a:off x="6484950" y="3169370"/>
            <a:ext cx="5318100" cy="1200658"/>
          </a:xfrm>
          <a:prstGeom prst="rect">
            <a:avLst/>
          </a:prstGeom>
        </p:spPr>
        <p:txBody>
          <a:bodyPr lIns="0" tIns="0" rIns="0" bIns="0" rtlCol="0" anchor="t">
            <a:spAutoFit/>
          </a:bodyPr>
          <a:lstStyle/>
          <a:p>
            <a:pPr algn="ctr">
              <a:lnSpc>
                <a:spcPts val="4736"/>
              </a:lnSpc>
            </a:pPr>
            <a:r>
              <a:rPr lang="en-US" sz="3200" spc="742">
                <a:solidFill>
                  <a:srgbClr val="FFFFFF"/>
                </a:solidFill>
                <a:latin typeface="Poppins"/>
                <a:ea typeface="Poppins"/>
                <a:cs typeface="Poppins"/>
                <a:sym typeface="Poppins"/>
              </a:rPr>
              <a:t>WELCOME TO</a:t>
            </a:r>
          </a:p>
          <a:p>
            <a:pPr algn="ctr">
              <a:lnSpc>
                <a:spcPts val="4736"/>
              </a:lnSpc>
            </a:pPr>
            <a:endParaRPr lang="en-US" sz="3200" spc="742">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1171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8229600"/>
            <a:chOff x="0" y="0"/>
            <a:chExt cx="4274726" cy="2167467"/>
          </a:xfrm>
        </p:grpSpPr>
        <p:sp>
          <p:nvSpPr>
            <p:cNvPr id="3" name="Freeform 3"/>
            <p:cNvSpPr/>
            <p:nvPr/>
          </p:nvSpPr>
          <p:spPr>
            <a:xfrm>
              <a:off x="0" y="0"/>
              <a:ext cx="4274726" cy="2167467"/>
            </a:xfrm>
            <a:custGeom>
              <a:avLst/>
              <a:gdLst/>
              <a:ahLst/>
              <a:cxnLst/>
              <a:rect l="l" t="t" r="r" b="b"/>
              <a:pathLst>
                <a:path w="4274726" h="2167467">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DFDFD"/>
            </a:solidFill>
          </p:spPr>
        </p:sp>
        <p:sp>
          <p:nvSpPr>
            <p:cNvPr id="4" name="TextBox 4"/>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239435" y="3339593"/>
            <a:ext cx="8368210" cy="4119244"/>
          </a:xfrm>
          <a:prstGeom prst="rect">
            <a:avLst/>
          </a:prstGeom>
        </p:spPr>
        <p:txBody>
          <a:bodyPr lIns="0" tIns="0" rIns="0" bIns="0" rtlCol="0" anchor="t">
            <a:spAutoFit/>
          </a:bodyPr>
          <a:lstStyle/>
          <a:p>
            <a:pPr marL="1014742" lvl="1" indent="-507371" algn="l">
              <a:lnSpc>
                <a:spcPts val="6580"/>
              </a:lnSpc>
              <a:buFont typeface="Arial"/>
              <a:buChar char="•"/>
            </a:pPr>
            <a:r>
              <a:rPr lang="en-US" sz="4700">
                <a:solidFill>
                  <a:srgbClr val="211717"/>
                </a:solidFill>
                <a:latin typeface="Tomorrow"/>
                <a:ea typeface="Tomorrow"/>
                <a:cs typeface="Tomorrow"/>
                <a:sym typeface="Tomorrow"/>
              </a:rPr>
              <a:t>Mohamed Hanafy</a:t>
            </a:r>
          </a:p>
          <a:p>
            <a:pPr marL="1014742" lvl="1" indent="-507371" algn="l">
              <a:lnSpc>
                <a:spcPts val="6580"/>
              </a:lnSpc>
              <a:buFont typeface="Arial"/>
              <a:buChar char="•"/>
            </a:pPr>
            <a:r>
              <a:rPr lang="en-US" sz="4700">
                <a:solidFill>
                  <a:srgbClr val="211717"/>
                </a:solidFill>
                <a:latin typeface="Tomorrow"/>
                <a:ea typeface="Tomorrow"/>
                <a:cs typeface="Tomorrow"/>
                <a:sym typeface="Tomorrow"/>
              </a:rPr>
              <a:t>Mahmoud Ali</a:t>
            </a:r>
          </a:p>
          <a:p>
            <a:pPr marL="1014742" lvl="1" indent="-507371" algn="l">
              <a:lnSpc>
                <a:spcPts val="6580"/>
              </a:lnSpc>
              <a:buFont typeface="Arial"/>
              <a:buChar char="•"/>
            </a:pPr>
            <a:r>
              <a:rPr lang="en-US" sz="4700">
                <a:solidFill>
                  <a:srgbClr val="211717"/>
                </a:solidFill>
                <a:latin typeface="Tomorrow"/>
                <a:ea typeface="Tomorrow"/>
                <a:cs typeface="Tomorrow"/>
                <a:sym typeface="Tomorrow"/>
              </a:rPr>
              <a:t>Zeyad Ameen</a:t>
            </a:r>
          </a:p>
          <a:p>
            <a:pPr marL="1014742" lvl="1" indent="-507371" algn="l">
              <a:lnSpc>
                <a:spcPts val="6580"/>
              </a:lnSpc>
              <a:buFont typeface="Arial"/>
              <a:buChar char="•"/>
            </a:pPr>
            <a:r>
              <a:rPr lang="en-US" sz="4700">
                <a:solidFill>
                  <a:srgbClr val="211717"/>
                </a:solidFill>
                <a:latin typeface="Tomorrow"/>
                <a:ea typeface="Tomorrow"/>
                <a:cs typeface="Tomorrow"/>
                <a:sym typeface="Tomorrow"/>
              </a:rPr>
              <a:t>Rashad Samir</a:t>
            </a:r>
          </a:p>
          <a:p>
            <a:pPr marL="1014742" lvl="1" indent="-507371" algn="l">
              <a:lnSpc>
                <a:spcPts val="6580"/>
              </a:lnSpc>
              <a:buFont typeface="Arial"/>
              <a:buChar char="•"/>
            </a:pPr>
            <a:r>
              <a:rPr lang="en-US" sz="4700">
                <a:solidFill>
                  <a:srgbClr val="211717"/>
                </a:solidFill>
                <a:latin typeface="Tomorrow"/>
                <a:ea typeface="Tomorrow"/>
                <a:cs typeface="Tomorrow"/>
                <a:sym typeface="Tomorrow"/>
              </a:rPr>
              <a:t>Gamal Eldein Ayman</a:t>
            </a:r>
          </a:p>
        </p:txBody>
      </p:sp>
      <p:sp>
        <p:nvSpPr>
          <p:cNvPr id="6" name="Freeform 6"/>
          <p:cNvSpPr/>
          <p:nvPr/>
        </p:nvSpPr>
        <p:spPr>
          <a:xfrm flipH="1">
            <a:off x="0" y="8029240"/>
            <a:ext cx="5618858" cy="2257760"/>
          </a:xfrm>
          <a:custGeom>
            <a:avLst/>
            <a:gdLst/>
            <a:ahLst/>
            <a:cxnLst/>
            <a:rect l="l" t="t" r="r" b="b"/>
            <a:pathLst>
              <a:path w="5618858" h="2257760">
                <a:moveTo>
                  <a:pt x="5618858" y="0"/>
                </a:moveTo>
                <a:lnTo>
                  <a:pt x="0" y="0"/>
                </a:lnTo>
                <a:lnTo>
                  <a:pt x="0" y="2257760"/>
                </a:lnTo>
                <a:lnTo>
                  <a:pt x="5618858" y="2257760"/>
                </a:lnTo>
                <a:lnTo>
                  <a:pt x="5618858"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4424854" y="1457914"/>
            <a:ext cx="8655580" cy="1708151"/>
          </a:xfrm>
          <a:prstGeom prst="rect">
            <a:avLst/>
          </a:prstGeom>
        </p:spPr>
        <p:txBody>
          <a:bodyPr lIns="0" tIns="0" rIns="0" bIns="0" rtlCol="0" anchor="t">
            <a:spAutoFit/>
          </a:bodyPr>
          <a:lstStyle/>
          <a:p>
            <a:pPr algn="ctr">
              <a:lnSpc>
                <a:spcPts val="13999"/>
              </a:lnSpc>
            </a:pPr>
            <a:r>
              <a:rPr lang="en-US" sz="9999" b="1">
                <a:solidFill>
                  <a:srgbClr val="211717"/>
                </a:solidFill>
                <a:latin typeface="Alegreya Heavy"/>
                <a:ea typeface="Alegreya Heavy"/>
                <a:cs typeface="Alegreya Heavy"/>
                <a:sym typeface="Alegreya Heavy"/>
              </a:rPr>
              <a:t>Our team</a:t>
            </a:r>
          </a:p>
        </p:txBody>
      </p:sp>
      <p:sp>
        <p:nvSpPr>
          <p:cNvPr id="8" name="Freeform 8"/>
          <p:cNvSpPr/>
          <p:nvPr/>
        </p:nvSpPr>
        <p:spPr>
          <a:xfrm flipV="1">
            <a:off x="12669142" y="0"/>
            <a:ext cx="5618858" cy="2257760"/>
          </a:xfrm>
          <a:custGeom>
            <a:avLst/>
            <a:gdLst/>
            <a:ahLst/>
            <a:cxnLst/>
            <a:rect l="l" t="t" r="r" b="b"/>
            <a:pathLst>
              <a:path w="5618858" h="2257760">
                <a:moveTo>
                  <a:pt x="0" y="2257760"/>
                </a:moveTo>
                <a:lnTo>
                  <a:pt x="5618858" y="2257760"/>
                </a:lnTo>
                <a:lnTo>
                  <a:pt x="5618858" y="0"/>
                </a:lnTo>
                <a:lnTo>
                  <a:pt x="0" y="0"/>
                </a:lnTo>
                <a:lnTo>
                  <a:pt x="0" y="225776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TextBox 9"/>
          <p:cNvSpPr txBox="1"/>
          <p:nvPr/>
        </p:nvSpPr>
        <p:spPr>
          <a:xfrm>
            <a:off x="10591702" y="7641891"/>
            <a:ext cx="8655580" cy="688974"/>
          </a:xfrm>
          <a:prstGeom prst="rect">
            <a:avLst/>
          </a:prstGeom>
        </p:spPr>
        <p:txBody>
          <a:bodyPr lIns="0" tIns="0" rIns="0" bIns="0" rtlCol="0" anchor="t">
            <a:spAutoFit/>
          </a:bodyPr>
          <a:lstStyle/>
          <a:p>
            <a:pPr algn="ctr">
              <a:lnSpc>
                <a:spcPts val="5600"/>
              </a:lnSpc>
            </a:pPr>
            <a:r>
              <a:rPr lang="en-US" sz="4000" b="1">
                <a:solidFill>
                  <a:srgbClr val="211717"/>
                </a:solidFill>
                <a:latin typeface="Alegreya Heavy"/>
                <a:ea typeface="Alegreya Heavy"/>
                <a:cs typeface="Alegreya Heavy"/>
                <a:sym typeface="Alegreya Heavy"/>
              </a:rPr>
              <a:t>supervised by</a:t>
            </a:r>
          </a:p>
        </p:txBody>
      </p:sp>
      <p:sp>
        <p:nvSpPr>
          <p:cNvPr id="10" name="TextBox 10"/>
          <p:cNvSpPr txBox="1"/>
          <p:nvPr/>
        </p:nvSpPr>
        <p:spPr>
          <a:xfrm>
            <a:off x="12384670" y="8254665"/>
            <a:ext cx="5069644" cy="573403"/>
          </a:xfrm>
          <a:prstGeom prst="rect">
            <a:avLst/>
          </a:prstGeom>
        </p:spPr>
        <p:txBody>
          <a:bodyPr lIns="0" tIns="0" rIns="0" bIns="0" rtlCol="0" anchor="t">
            <a:spAutoFit/>
          </a:bodyPr>
          <a:lstStyle/>
          <a:p>
            <a:pPr algn="l">
              <a:lnSpc>
                <a:spcPts val="4620"/>
              </a:lnSpc>
            </a:pPr>
            <a:r>
              <a:rPr lang="en-US" sz="3300">
                <a:solidFill>
                  <a:srgbClr val="211717"/>
                </a:solidFill>
                <a:latin typeface="Tomorrow"/>
                <a:ea typeface="Tomorrow"/>
                <a:cs typeface="Tomorrow"/>
                <a:sym typeface="Tomorrow"/>
              </a:rPr>
              <a:t>Dr. Mohammed El-Said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5828540" y="-4878120"/>
            <a:ext cx="8115300" cy="8115300"/>
          </a:xfrm>
          <a:custGeom>
            <a:avLst/>
            <a:gdLst/>
            <a:ahLst/>
            <a:cxnLst/>
            <a:rect l="l" t="t" r="r" b="b"/>
            <a:pathLst>
              <a:path w="8115300" h="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998398" y="7319554"/>
            <a:ext cx="8115300" cy="8115300"/>
          </a:xfrm>
          <a:custGeom>
            <a:avLst/>
            <a:gdLst/>
            <a:ahLst/>
            <a:cxnLst/>
            <a:rect l="l" t="t" r="r" b="b"/>
            <a:pathLst>
              <a:path w="8115300" h="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0625559" y="0"/>
            <a:ext cx="7662441" cy="10287000"/>
          </a:xfrm>
          <a:custGeom>
            <a:avLst/>
            <a:gdLst/>
            <a:ahLst/>
            <a:cxnLst/>
            <a:rect l="l" t="t" r="r" b="b"/>
            <a:pathLst>
              <a:path w="7662441" h="10287000">
                <a:moveTo>
                  <a:pt x="0" y="0"/>
                </a:moveTo>
                <a:lnTo>
                  <a:pt x="7662441" y="0"/>
                </a:lnTo>
                <a:lnTo>
                  <a:pt x="7662441" y="10287000"/>
                </a:lnTo>
                <a:lnTo>
                  <a:pt x="0" y="10287000"/>
                </a:lnTo>
                <a:lnTo>
                  <a:pt x="0" y="0"/>
                </a:lnTo>
                <a:close/>
              </a:path>
            </a:pathLst>
          </a:custGeom>
          <a:blipFill>
            <a:blip r:embed="rId4"/>
            <a:stretch>
              <a:fillRect l="-59768" r="-75246"/>
            </a:stretch>
          </a:blipFill>
        </p:spPr>
      </p:sp>
      <p:sp>
        <p:nvSpPr>
          <p:cNvPr id="5" name="TextBox 5"/>
          <p:cNvSpPr txBox="1"/>
          <p:nvPr/>
        </p:nvSpPr>
        <p:spPr>
          <a:xfrm>
            <a:off x="693253" y="433994"/>
            <a:ext cx="6640906" cy="2446712"/>
          </a:xfrm>
          <a:prstGeom prst="rect">
            <a:avLst/>
          </a:prstGeom>
        </p:spPr>
        <p:txBody>
          <a:bodyPr lIns="0" tIns="0" rIns="0" bIns="0" rtlCol="0" anchor="t">
            <a:spAutoFit/>
          </a:bodyPr>
          <a:lstStyle/>
          <a:p>
            <a:pPr algn="just">
              <a:lnSpc>
                <a:spcPts val="9531"/>
              </a:lnSpc>
            </a:pPr>
            <a:r>
              <a:rPr lang="en-US" sz="8434">
                <a:solidFill>
                  <a:srgbClr val="FFFFFF"/>
                </a:solidFill>
                <a:latin typeface="League Spartan"/>
                <a:ea typeface="League Spartan"/>
                <a:cs typeface="League Spartan"/>
                <a:sym typeface="League Spartan"/>
              </a:rPr>
              <a:t>AGENDA</a:t>
            </a:r>
          </a:p>
          <a:p>
            <a:pPr algn="just">
              <a:lnSpc>
                <a:spcPts val="9531"/>
              </a:lnSpc>
            </a:pPr>
            <a:endParaRPr lang="en-US" sz="8434">
              <a:solidFill>
                <a:srgbClr val="FFFFFF"/>
              </a:solidFill>
              <a:latin typeface="League Spartan"/>
              <a:ea typeface="League Spartan"/>
              <a:cs typeface="League Spartan"/>
              <a:sym typeface="League Spartan"/>
            </a:endParaRPr>
          </a:p>
        </p:txBody>
      </p:sp>
      <p:sp>
        <p:nvSpPr>
          <p:cNvPr id="6" name="TextBox 6"/>
          <p:cNvSpPr txBox="1"/>
          <p:nvPr/>
        </p:nvSpPr>
        <p:spPr>
          <a:xfrm>
            <a:off x="693253" y="2064956"/>
            <a:ext cx="6640906" cy="8598281"/>
          </a:xfrm>
          <a:prstGeom prst="rect">
            <a:avLst/>
          </a:prstGeom>
        </p:spPr>
        <p:txBody>
          <a:bodyPr lIns="0" tIns="0" rIns="0" bIns="0" rtlCol="0" anchor="t">
            <a:spAutoFit/>
          </a:bodyPr>
          <a:lstStyle/>
          <a:p>
            <a:pPr algn="just">
              <a:lnSpc>
                <a:spcPts val="3276"/>
              </a:lnSpc>
            </a:pPr>
            <a:r>
              <a:rPr lang="en-US" sz="2899">
                <a:solidFill>
                  <a:srgbClr val="FFFFFF"/>
                </a:solidFill>
                <a:latin typeface="League Spartan"/>
                <a:ea typeface="League Spartan"/>
                <a:cs typeface="League Spartan"/>
                <a:sym typeface="League Spartan"/>
              </a:rPr>
              <a:t>01  INTRODUCTION</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02 PROBLEMS &amp; MOTIVATION</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03 PROJECT GOALS</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04 CHALLENGES</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05 SYSTEM OVERVIEW</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06 IMPLEMENTATION WORKFLOW</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07 USED TECHNOLOGIES</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08 PROJECT FEATURES</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09 USE CASES</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r>
              <a:rPr lang="en-US" sz="2899">
                <a:solidFill>
                  <a:srgbClr val="FFFFFF"/>
                </a:solidFill>
                <a:latin typeface="League Spartan"/>
                <a:ea typeface="League Spartan"/>
                <a:cs typeface="League Spartan"/>
                <a:sym typeface="League Spartan"/>
              </a:rPr>
              <a:t>10 FUTURE WORK</a:t>
            </a:r>
          </a:p>
          <a:p>
            <a:pPr algn="just">
              <a:lnSpc>
                <a:spcPts val="3276"/>
              </a:lnSpc>
            </a:pPr>
            <a:endParaRPr lang="en-US" sz="2899">
              <a:solidFill>
                <a:srgbClr val="FFFFFF"/>
              </a:solidFill>
              <a:latin typeface="League Spartan"/>
              <a:ea typeface="League Spartan"/>
              <a:cs typeface="League Spartan"/>
              <a:sym typeface="League Spartan"/>
            </a:endParaRPr>
          </a:p>
          <a:p>
            <a:pPr algn="just">
              <a:lnSpc>
                <a:spcPts val="3276"/>
              </a:lnSpc>
            </a:pPr>
            <a:endParaRPr lang="en-US" sz="2899">
              <a:solidFill>
                <a:srgbClr val="FFFFFF"/>
              </a:solidFill>
              <a:latin typeface="League Spartan"/>
              <a:ea typeface="League Spartan"/>
              <a:cs typeface="League Spartan"/>
              <a:sym typeface="League Spartan"/>
            </a:endParaRPr>
          </a:p>
        </p:txBody>
      </p:sp>
      <p:sp>
        <p:nvSpPr>
          <p:cNvPr id="7" name="AutoShape 7"/>
          <p:cNvSpPr/>
          <p:nvPr/>
        </p:nvSpPr>
        <p:spPr>
          <a:xfrm>
            <a:off x="693253" y="1633538"/>
            <a:ext cx="6640906" cy="0"/>
          </a:xfrm>
          <a:prstGeom prst="line">
            <a:avLst/>
          </a:prstGeom>
          <a:ln w="47625" cap="rnd">
            <a:solidFill>
              <a:srgbClr val="FFFFFF"/>
            </a:solidFill>
            <a:prstDash val="solid"/>
            <a:headEnd type="none" w="sm" len="sm"/>
            <a:tailEnd type="none" w="sm" len="sm"/>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3433588" y="5806884"/>
            <a:ext cx="8115300" cy="8115300"/>
          </a:xfrm>
          <a:custGeom>
            <a:avLst/>
            <a:gdLst/>
            <a:ahLst/>
            <a:cxnLst/>
            <a:rect l="l" t="t" r="r" b="b"/>
            <a:pathLst>
              <a:path w="8115300" h="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9903192" y="1628296"/>
            <a:ext cx="7060793" cy="6649983"/>
          </a:xfrm>
          <a:custGeom>
            <a:avLst/>
            <a:gdLst/>
            <a:ahLst/>
            <a:cxnLst/>
            <a:rect l="l" t="t" r="r" b="b"/>
            <a:pathLst>
              <a:path w="7060793" h="6649983">
                <a:moveTo>
                  <a:pt x="0" y="0"/>
                </a:moveTo>
                <a:lnTo>
                  <a:pt x="7060793" y="0"/>
                </a:lnTo>
                <a:lnTo>
                  <a:pt x="7060793" y="6649983"/>
                </a:lnTo>
                <a:lnTo>
                  <a:pt x="0" y="664998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5754825" y="-922143"/>
            <a:ext cx="8115300" cy="8115300"/>
          </a:xfrm>
          <a:custGeom>
            <a:avLst/>
            <a:gdLst/>
            <a:ahLst/>
            <a:cxnLst/>
            <a:rect l="l" t="t" r="r" b="b"/>
            <a:pathLst>
              <a:path w="8115300" h="8115300">
                <a:moveTo>
                  <a:pt x="0" y="0"/>
                </a:moveTo>
                <a:lnTo>
                  <a:pt x="8115300" y="0"/>
                </a:lnTo>
                <a:lnTo>
                  <a:pt x="8115300" y="8115300"/>
                </a:lnTo>
                <a:lnTo>
                  <a:pt x="0" y="8115300"/>
                </a:lnTo>
                <a:lnTo>
                  <a:pt x="0" y="0"/>
                </a:lnTo>
                <a:close/>
              </a:path>
            </a:pathLst>
          </a:custGeom>
          <a:blipFill>
            <a:blip r:embed="rId2">
              <a:alphaModFix amt="30000"/>
              <a:extLst>
                <a:ext uri="{96DAC541-7B7A-43D3-8B79-37D633B846F1}">
                  <asvg:svgBlip xmlns:asvg="http://schemas.microsoft.com/office/drawing/2016/SVG/main" xmlns="" r:embed="rId3"/>
                </a:ext>
              </a:extLst>
            </a:blip>
            <a:stretch>
              <a:fillRect/>
            </a:stretch>
          </a:blipFill>
        </p:spPr>
      </p:sp>
      <p:sp>
        <p:nvSpPr>
          <p:cNvPr id="5" name="TextBox 5"/>
          <p:cNvSpPr txBox="1"/>
          <p:nvPr/>
        </p:nvSpPr>
        <p:spPr>
          <a:xfrm>
            <a:off x="1840626" y="3977108"/>
            <a:ext cx="6640906" cy="5030177"/>
          </a:xfrm>
          <a:prstGeom prst="rect">
            <a:avLst/>
          </a:prstGeom>
        </p:spPr>
        <p:txBody>
          <a:bodyPr lIns="0" tIns="0" rIns="0" bIns="0" rtlCol="0" anchor="t">
            <a:spAutoFit/>
          </a:bodyPr>
          <a:lstStyle/>
          <a:p>
            <a:pPr algn="just">
              <a:lnSpc>
                <a:spcPts val="3621"/>
              </a:lnSpc>
            </a:pPr>
            <a:endParaRPr/>
          </a:p>
          <a:p>
            <a:pPr marL="558436" lvl="1" indent="-279218" algn="just">
              <a:lnSpc>
                <a:spcPts val="3621"/>
              </a:lnSpc>
              <a:buFont typeface="Arial"/>
              <a:buChar char="•"/>
            </a:pPr>
            <a:r>
              <a:rPr lang="en-US" sz="2586">
                <a:solidFill>
                  <a:srgbClr val="FFFFFF"/>
                </a:solidFill>
                <a:latin typeface="Poppins"/>
                <a:ea typeface="Poppins"/>
                <a:cs typeface="Poppins"/>
                <a:sym typeface="Poppins"/>
              </a:rPr>
              <a:t>Automates car plate recognition using AI and computer vision.</a:t>
            </a:r>
          </a:p>
          <a:p>
            <a:pPr algn="just">
              <a:lnSpc>
                <a:spcPts val="3621"/>
              </a:lnSpc>
            </a:pPr>
            <a:endParaRPr lang="en-US" sz="2586">
              <a:solidFill>
                <a:srgbClr val="FFFFFF"/>
              </a:solidFill>
              <a:latin typeface="Poppins"/>
              <a:ea typeface="Poppins"/>
              <a:cs typeface="Poppins"/>
              <a:sym typeface="Poppins"/>
            </a:endParaRPr>
          </a:p>
          <a:p>
            <a:pPr marL="558436" lvl="1" indent="-279218" algn="just">
              <a:lnSpc>
                <a:spcPts val="3621"/>
              </a:lnSpc>
              <a:buFont typeface="Arial"/>
              <a:buChar char="•"/>
            </a:pPr>
            <a:r>
              <a:rPr lang="en-US" sz="2586">
                <a:solidFill>
                  <a:srgbClr val="FFFFFF"/>
                </a:solidFill>
                <a:latin typeface="Poppins"/>
                <a:ea typeface="Poppins"/>
                <a:cs typeface="Poppins"/>
                <a:sym typeface="Poppins"/>
              </a:rPr>
              <a:t>Captures live video, detects Egyptian license plates, extracts characters, and checks against a database.</a:t>
            </a:r>
          </a:p>
          <a:p>
            <a:pPr algn="just">
              <a:lnSpc>
                <a:spcPts val="3621"/>
              </a:lnSpc>
            </a:pPr>
            <a:endParaRPr lang="en-US" sz="2586">
              <a:solidFill>
                <a:srgbClr val="FFFFFF"/>
              </a:solidFill>
              <a:latin typeface="Poppins"/>
              <a:ea typeface="Poppins"/>
              <a:cs typeface="Poppins"/>
              <a:sym typeface="Poppins"/>
            </a:endParaRPr>
          </a:p>
          <a:p>
            <a:pPr marL="558436" lvl="1" indent="-279218" algn="just">
              <a:lnSpc>
                <a:spcPts val="3621"/>
              </a:lnSpc>
              <a:buFont typeface="Arial"/>
              <a:buChar char="•"/>
            </a:pPr>
            <a:r>
              <a:rPr lang="en-US" sz="2586">
                <a:solidFill>
                  <a:srgbClr val="FFFFFF"/>
                </a:solidFill>
                <a:latin typeface="Poppins"/>
                <a:ea typeface="Poppins"/>
                <a:cs typeface="Poppins"/>
                <a:sym typeface="Poppins"/>
              </a:rPr>
              <a:t>Support security, traffic managment, and parking control </a:t>
            </a:r>
          </a:p>
          <a:p>
            <a:pPr algn="just">
              <a:lnSpc>
                <a:spcPts val="3621"/>
              </a:lnSpc>
            </a:pPr>
            <a:endParaRPr lang="en-US" sz="2586">
              <a:solidFill>
                <a:srgbClr val="FFFFFF"/>
              </a:solidFill>
              <a:latin typeface="Poppins"/>
              <a:ea typeface="Poppins"/>
              <a:cs typeface="Poppins"/>
              <a:sym typeface="Poppins"/>
            </a:endParaRPr>
          </a:p>
        </p:txBody>
      </p:sp>
      <p:sp>
        <p:nvSpPr>
          <p:cNvPr id="6" name="TextBox 6"/>
          <p:cNvSpPr txBox="1"/>
          <p:nvPr/>
        </p:nvSpPr>
        <p:spPr>
          <a:xfrm>
            <a:off x="1840626" y="2263562"/>
            <a:ext cx="7303374" cy="1410643"/>
          </a:xfrm>
          <a:prstGeom prst="rect">
            <a:avLst/>
          </a:prstGeom>
        </p:spPr>
        <p:txBody>
          <a:bodyPr wrap="square" lIns="0" tIns="0" rIns="0" bIns="0" rtlCol="0" anchor="t">
            <a:spAutoFit/>
          </a:bodyPr>
          <a:lstStyle/>
          <a:p>
            <a:pPr algn="just">
              <a:lnSpc>
                <a:spcPts val="11000"/>
              </a:lnSpc>
            </a:pPr>
            <a:r>
              <a:rPr lang="en-US" sz="9734" dirty="0">
                <a:solidFill>
                  <a:srgbClr val="FFFFFF"/>
                </a:solidFill>
                <a:latin typeface="Impact"/>
                <a:ea typeface="Impact"/>
                <a:cs typeface="Impact"/>
                <a:sym typeface="Impact"/>
              </a:rPr>
              <a:t>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9153525"/>
            <a:ext cx="16186054" cy="0"/>
          </a:xfrm>
          <a:prstGeom prst="line">
            <a:avLst/>
          </a:prstGeom>
          <a:ln w="28575" cap="flat">
            <a:solidFill>
              <a:srgbClr val="FFFFFF"/>
            </a:solidFill>
            <a:prstDash val="solid"/>
            <a:headEnd type="none" w="sm" len="sm"/>
            <a:tailEnd type="none" w="sm" len="sm"/>
          </a:ln>
        </p:spPr>
      </p:sp>
      <p:grpSp>
        <p:nvGrpSpPr>
          <p:cNvPr id="3" name="Group 3"/>
          <p:cNvGrpSpPr>
            <a:grpSpLocks noChangeAspect="1"/>
          </p:cNvGrpSpPr>
          <p:nvPr/>
        </p:nvGrpSpPr>
        <p:grpSpPr>
          <a:xfrm>
            <a:off x="13185898" y="-1244049"/>
            <a:ext cx="4453511" cy="6628769"/>
            <a:chOff x="0" y="0"/>
            <a:chExt cx="5877814" cy="8748753"/>
          </a:xfrm>
        </p:grpSpPr>
        <p:sp>
          <p:nvSpPr>
            <p:cNvPr id="4" name="Freeform 4"/>
            <p:cNvSpPr/>
            <p:nvPr/>
          </p:nvSpPr>
          <p:spPr>
            <a:xfrm>
              <a:off x="15189" y="15176"/>
              <a:ext cx="5847448" cy="8718397"/>
            </a:xfrm>
            <a:custGeom>
              <a:avLst/>
              <a:gdLst/>
              <a:ahLst/>
              <a:cxnLst/>
              <a:rect l="l" t="t" r="r" b="b"/>
              <a:pathLst>
                <a:path w="5847448" h="8718397">
                  <a:moveTo>
                    <a:pt x="2923718" y="8718397"/>
                  </a:moveTo>
                  <a:cubicBezTo>
                    <a:pt x="4538459" y="8718397"/>
                    <a:pt x="5847449" y="7409410"/>
                    <a:pt x="5847449" y="5794668"/>
                  </a:cubicBezTo>
                  <a:lnTo>
                    <a:pt x="5847449" y="2923718"/>
                  </a:lnTo>
                  <a:cubicBezTo>
                    <a:pt x="5847449" y="1309002"/>
                    <a:pt x="4538459" y="0"/>
                    <a:pt x="2923718" y="0"/>
                  </a:cubicBezTo>
                  <a:cubicBezTo>
                    <a:pt x="1308989" y="1"/>
                    <a:pt x="0" y="1309002"/>
                    <a:pt x="0" y="2923718"/>
                  </a:cubicBezTo>
                  <a:lnTo>
                    <a:pt x="0" y="5794668"/>
                  </a:lnTo>
                  <a:cubicBezTo>
                    <a:pt x="0" y="7409409"/>
                    <a:pt x="1308989" y="8718397"/>
                    <a:pt x="2923718" y="8718397"/>
                  </a:cubicBezTo>
                  <a:close/>
                </a:path>
              </a:pathLst>
            </a:custGeom>
            <a:solidFill>
              <a:srgbClr val="1E1E1E"/>
            </a:solidFill>
          </p:spPr>
        </p:sp>
        <p:sp>
          <p:nvSpPr>
            <p:cNvPr id="5" name="Freeform 5"/>
            <p:cNvSpPr/>
            <p:nvPr/>
          </p:nvSpPr>
          <p:spPr>
            <a:xfrm>
              <a:off x="214300" y="214287"/>
              <a:ext cx="5449214" cy="8320171"/>
            </a:xfrm>
            <a:custGeom>
              <a:avLst/>
              <a:gdLst/>
              <a:ahLst/>
              <a:cxnLst/>
              <a:rect l="l" t="t" r="r" b="b"/>
              <a:pathLst>
                <a:path w="5449214" h="8320171">
                  <a:moveTo>
                    <a:pt x="2724607" y="8320171"/>
                  </a:moveTo>
                  <a:cubicBezTo>
                    <a:pt x="1219848" y="8320171"/>
                    <a:pt x="0" y="7100329"/>
                    <a:pt x="0" y="5595556"/>
                  </a:cubicBezTo>
                  <a:lnTo>
                    <a:pt x="0" y="2724607"/>
                  </a:lnTo>
                  <a:cubicBezTo>
                    <a:pt x="0" y="1219860"/>
                    <a:pt x="1219848" y="0"/>
                    <a:pt x="2724607" y="0"/>
                  </a:cubicBezTo>
                  <a:cubicBezTo>
                    <a:pt x="4229379" y="0"/>
                    <a:pt x="5449214" y="1219861"/>
                    <a:pt x="5449214" y="2724607"/>
                  </a:cubicBezTo>
                  <a:lnTo>
                    <a:pt x="5449214" y="5595557"/>
                  </a:lnTo>
                  <a:cubicBezTo>
                    <a:pt x="5449214" y="7100329"/>
                    <a:pt x="4229379" y="8320171"/>
                    <a:pt x="2724607" y="8320171"/>
                  </a:cubicBezTo>
                  <a:close/>
                </a:path>
              </a:pathLst>
            </a:custGeom>
            <a:blipFill>
              <a:blip r:embed="rId2"/>
              <a:stretch>
                <a:fillRect l="-50451" r="-50451"/>
              </a:stretch>
            </a:blipFill>
          </p:spPr>
        </p:sp>
        <p:sp>
          <p:nvSpPr>
            <p:cNvPr id="6" name="Freeform 6"/>
            <p:cNvSpPr/>
            <p:nvPr/>
          </p:nvSpPr>
          <p:spPr>
            <a:xfrm>
              <a:off x="0" y="0"/>
              <a:ext cx="5877814" cy="8748754"/>
            </a:xfrm>
            <a:custGeom>
              <a:avLst/>
              <a:gdLst/>
              <a:ahLst/>
              <a:cxnLst/>
              <a:rect l="l" t="t" r="r" b="b"/>
              <a:pathLst>
                <a:path w="5877814" h="8748754">
                  <a:moveTo>
                    <a:pt x="2938907" y="8674590"/>
                  </a:moveTo>
                  <a:cubicBezTo>
                    <a:pt x="1356754" y="8674590"/>
                    <a:pt x="74168" y="7392009"/>
                    <a:pt x="74168" y="5809843"/>
                  </a:cubicBezTo>
                  <a:lnTo>
                    <a:pt x="74168" y="2938894"/>
                  </a:lnTo>
                  <a:cubicBezTo>
                    <a:pt x="74168" y="1356754"/>
                    <a:pt x="1356754" y="74155"/>
                    <a:pt x="2938907" y="74155"/>
                  </a:cubicBezTo>
                  <a:cubicBezTo>
                    <a:pt x="4521073" y="74155"/>
                    <a:pt x="5803646" y="1356754"/>
                    <a:pt x="5803646" y="2938894"/>
                  </a:cubicBezTo>
                  <a:lnTo>
                    <a:pt x="5803646" y="5809844"/>
                  </a:lnTo>
                  <a:cubicBezTo>
                    <a:pt x="5803646" y="7392009"/>
                    <a:pt x="4521073" y="8674590"/>
                    <a:pt x="2938907" y="8674590"/>
                  </a:cubicBezTo>
                  <a:close/>
                  <a:moveTo>
                    <a:pt x="2938907" y="8693640"/>
                  </a:moveTo>
                  <a:cubicBezTo>
                    <a:pt x="4531589" y="8693640"/>
                    <a:pt x="5822696" y="7402525"/>
                    <a:pt x="5822696" y="5809843"/>
                  </a:cubicBezTo>
                  <a:lnTo>
                    <a:pt x="5822696" y="2938894"/>
                  </a:lnTo>
                  <a:cubicBezTo>
                    <a:pt x="5822696" y="1346238"/>
                    <a:pt x="4531589" y="55105"/>
                    <a:pt x="2938907" y="55105"/>
                  </a:cubicBezTo>
                  <a:cubicBezTo>
                    <a:pt x="1346226" y="55105"/>
                    <a:pt x="55118" y="1346238"/>
                    <a:pt x="55118" y="2938894"/>
                  </a:cubicBezTo>
                  <a:lnTo>
                    <a:pt x="55118" y="5809844"/>
                  </a:lnTo>
                  <a:cubicBezTo>
                    <a:pt x="55118" y="7402525"/>
                    <a:pt x="1346225" y="8693640"/>
                    <a:pt x="2938907" y="8693640"/>
                  </a:cubicBezTo>
                  <a:close/>
                  <a:moveTo>
                    <a:pt x="2929458" y="8729688"/>
                  </a:moveTo>
                  <a:cubicBezTo>
                    <a:pt x="1321092" y="8724471"/>
                    <a:pt x="19050" y="7419213"/>
                    <a:pt x="19050" y="5809843"/>
                  </a:cubicBezTo>
                  <a:lnTo>
                    <a:pt x="19050" y="2938894"/>
                  </a:lnTo>
                  <a:cubicBezTo>
                    <a:pt x="19050" y="1326312"/>
                    <a:pt x="1326312" y="19050"/>
                    <a:pt x="2938907" y="19050"/>
                  </a:cubicBezTo>
                  <a:cubicBezTo>
                    <a:pt x="4551502" y="19050"/>
                    <a:pt x="5858764" y="1326312"/>
                    <a:pt x="5858764" y="2938894"/>
                  </a:cubicBezTo>
                  <a:lnTo>
                    <a:pt x="5858764" y="5809844"/>
                  </a:lnTo>
                  <a:cubicBezTo>
                    <a:pt x="5858764" y="7422439"/>
                    <a:pt x="4551502" y="8729702"/>
                    <a:pt x="2938907" y="8729704"/>
                  </a:cubicBezTo>
                  <a:lnTo>
                    <a:pt x="2934183" y="8729700"/>
                  </a:lnTo>
                  <a:lnTo>
                    <a:pt x="2929458" y="8729688"/>
                  </a:lnTo>
                  <a:close/>
                  <a:moveTo>
                    <a:pt x="2929407" y="8748738"/>
                  </a:moveTo>
                  <a:lnTo>
                    <a:pt x="2934157" y="8748750"/>
                  </a:lnTo>
                  <a:lnTo>
                    <a:pt x="2938907" y="8748754"/>
                  </a:lnTo>
                  <a:cubicBezTo>
                    <a:pt x="4562030" y="8748754"/>
                    <a:pt x="5877814" y="7432967"/>
                    <a:pt x="5877814" y="5809844"/>
                  </a:cubicBezTo>
                  <a:lnTo>
                    <a:pt x="5877814" y="2938894"/>
                  </a:lnTo>
                  <a:cubicBezTo>
                    <a:pt x="5877814" y="1315796"/>
                    <a:pt x="4562030" y="0"/>
                    <a:pt x="2938907" y="0"/>
                  </a:cubicBezTo>
                  <a:cubicBezTo>
                    <a:pt x="1315796" y="0"/>
                    <a:pt x="0" y="1315796"/>
                    <a:pt x="0" y="2938894"/>
                  </a:cubicBezTo>
                  <a:lnTo>
                    <a:pt x="0" y="5809844"/>
                  </a:lnTo>
                  <a:cubicBezTo>
                    <a:pt x="0" y="7429716"/>
                    <a:pt x="1310538" y="8743489"/>
                    <a:pt x="2929407" y="8748738"/>
                  </a:cubicBezTo>
                  <a:close/>
                </a:path>
              </a:pathLst>
            </a:custGeom>
            <a:solidFill>
              <a:srgbClr val="1E1E1E"/>
            </a:solidFill>
          </p:spPr>
        </p:sp>
      </p:grpSp>
      <p:sp>
        <p:nvSpPr>
          <p:cNvPr id="7" name="Freeform 7"/>
          <p:cNvSpPr/>
          <p:nvPr/>
        </p:nvSpPr>
        <p:spPr>
          <a:xfrm rot="-840791">
            <a:off x="-1065048" y="1092853"/>
            <a:ext cx="7315200" cy="559551"/>
          </a:xfrm>
          <a:custGeom>
            <a:avLst/>
            <a:gdLst/>
            <a:ahLst/>
            <a:cxnLst/>
            <a:rect l="l" t="t" r="r" b="b"/>
            <a:pathLst>
              <a:path w="7315200" h="559551">
                <a:moveTo>
                  <a:pt x="0" y="0"/>
                </a:moveTo>
                <a:lnTo>
                  <a:pt x="7315200" y="0"/>
                </a:lnTo>
                <a:lnTo>
                  <a:pt x="7315200" y="559552"/>
                </a:lnTo>
                <a:lnTo>
                  <a:pt x="0" y="55955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8" name="Freeform 8"/>
          <p:cNvSpPr/>
          <p:nvPr/>
        </p:nvSpPr>
        <p:spPr>
          <a:xfrm rot="-10800000">
            <a:off x="734917" y="4285003"/>
            <a:ext cx="3715270" cy="743054"/>
          </a:xfrm>
          <a:custGeom>
            <a:avLst/>
            <a:gdLst/>
            <a:ahLst/>
            <a:cxnLst/>
            <a:rect l="l" t="t" r="r" b="b"/>
            <a:pathLst>
              <a:path w="3715270" h="743054">
                <a:moveTo>
                  <a:pt x="0" y="0"/>
                </a:moveTo>
                <a:lnTo>
                  <a:pt x="3715270" y="0"/>
                </a:lnTo>
                <a:lnTo>
                  <a:pt x="3715270" y="743054"/>
                </a:lnTo>
                <a:lnTo>
                  <a:pt x="0" y="743054"/>
                </a:lnTo>
                <a:lnTo>
                  <a:pt x="0" y="0"/>
                </a:lnTo>
                <a:close/>
              </a:path>
            </a:pathLst>
          </a:custGeom>
          <a:blipFill>
            <a:blip r:embed="rId5">
              <a:alphaModFix amt="18000"/>
              <a:extLst>
                <a:ext uri="{96DAC541-7B7A-43D3-8B79-37D633B846F1}">
                  <asvg:svgBlip xmlns:asvg="http://schemas.microsoft.com/office/drawing/2016/SVG/main" xmlns="" r:embed="rId6"/>
                </a:ext>
              </a:extLst>
            </a:blip>
            <a:stretch>
              <a:fillRect/>
            </a:stretch>
          </a:blipFill>
        </p:spPr>
      </p:sp>
      <p:sp>
        <p:nvSpPr>
          <p:cNvPr id="9" name="Freeform 9"/>
          <p:cNvSpPr/>
          <p:nvPr/>
        </p:nvSpPr>
        <p:spPr>
          <a:xfrm rot="-10800000">
            <a:off x="6799564" y="4285003"/>
            <a:ext cx="3715270" cy="743054"/>
          </a:xfrm>
          <a:custGeom>
            <a:avLst/>
            <a:gdLst/>
            <a:ahLst/>
            <a:cxnLst/>
            <a:rect l="l" t="t" r="r" b="b"/>
            <a:pathLst>
              <a:path w="3715270" h="743054">
                <a:moveTo>
                  <a:pt x="0" y="0"/>
                </a:moveTo>
                <a:lnTo>
                  <a:pt x="3715270" y="0"/>
                </a:lnTo>
                <a:lnTo>
                  <a:pt x="3715270" y="743054"/>
                </a:lnTo>
                <a:lnTo>
                  <a:pt x="0" y="743054"/>
                </a:lnTo>
                <a:lnTo>
                  <a:pt x="0" y="0"/>
                </a:lnTo>
                <a:close/>
              </a:path>
            </a:pathLst>
          </a:custGeom>
          <a:blipFill>
            <a:blip r:embed="rId5">
              <a:alphaModFix amt="18000"/>
              <a:extLst>
                <a:ext uri="{96DAC541-7B7A-43D3-8B79-37D633B846F1}">
                  <asvg:svgBlip xmlns:asvg="http://schemas.microsoft.com/office/drawing/2016/SVG/main" xmlns="" r:embed="rId6"/>
                </a:ext>
              </a:extLst>
            </a:blip>
            <a:stretch>
              <a:fillRect/>
            </a:stretch>
          </a:blipFill>
        </p:spPr>
      </p:sp>
      <p:grpSp>
        <p:nvGrpSpPr>
          <p:cNvPr id="10" name="Group 10"/>
          <p:cNvGrpSpPr/>
          <p:nvPr/>
        </p:nvGrpSpPr>
        <p:grpSpPr>
          <a:xfrm>
            <a:off x="14288064" y="3660198"/>
            <a:ext cx="2249180" cy="224918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52450" cap="sq">
              <a:solidFill>
                <a:srgbClr val="FFFFFF"/>
              </a:solidFill>
              <a:prstDash val="solid"/>
              <a:miter/>
            </a:ln>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028700" y="2162084"/>
            <a:ext cx="11408832" cy="973456"/>
          </a:xfrm>
          <a:prstGeom prst="rect">
            <a:avLst/>
          </a:prstGeom>
        </p:spPr>
        <p:txBody>
          <a:bodyPr lIns="0" tIns="0" rIns="0" bIns="0" rtlCol="0" anchor="t">
            <a:spAutoFit/>
          </a:bodyPr>
          <a:lstStyle/>
          <a:p>
            <a:pPr algn="l">
              <a:lnSpc>
                <a:spcPts val="6960"/>
              </a:lnSpc>
            </a:pPr>
            <a:r>
              <a:rPr lang="en-US" sz="8000" b="1" spc="-408">
                <a:solidFill>
                  <a:srgbClr val="FFFFFF"/>
                </a:solidFill>
                <a:latin typeface="Inter Bold"/>
                <a:ea typeface="Inter Bold"/>
                <a:cs typeface="Inter Bold"/>
                <a:sym typeface="Inter Bold"/>
              </a:rPr>
              <a:t>Problems &amp; motivation</a:t>
            </a:r>
          </a:p>
        </p:txBody>
      </p:sp>
      <p:sp>
        <p:nvSpPr>
          <p:cNvPr id="14" name="TextBox 14"/>
          <p:cNvSpPr txBox="1"/>
          <p:nvPr/>
        </p:nvSpPr>
        <p:spPr>
          <a:xfrm>
            <a:off x="1297237" y="4508511"/>
            <a:ext cx="2590629" cy="405003"/>
          </a:xfrm>
          <a:prstGeom prst="rect">
            <a:avLst/>
          </a:prstGeom>
        </p:spPr>
        <p:txBody>
          <a:bodyPr lIns="0" tIns="0" rIns="0" bIns="0" rtlCol="0" anchor="t">
            <a:spAutoFit/>
          </a:bodyPr>
          <a:lstStyle/>
          <a:p>
            <a:pPr algn="l">
              <a:lnSpc>
                <a:spcPts val="2870"/>
              </a:lnSpc>
            </a:pPr>
            <a:r>
              <a:rPr lang="en-US" sz="3299" spc="-168">
                <a:solidFill>
                  <a:srgbClr val="FFFFFF"/>
                </a:solidFill>
                <a:latin typeface="Inter"/>
                <a:ea typeface="Inter"/>
                <a:cs typeface="Inter"/>
                <a:sym typeface="Inter"/>
              </a:rPr>
              <a:t>Problems</a:t>
            </a:r>
          </a:p>
        </p:txBody>
      </p:sp>
      <p:sp>
        <p:nvSpPr>
          <p:cNvPr id="15" name="TextBox 15"/>
          <p:cNvSpPr txBox="1"/>
          <p:nvPr/>
        </p:nvSpPr>
        <p:spPr>
          <a:xfrm>
            <a:off x="7361885" y="4508511"/>
            <a:ext cx="2590629" cy="405003"/>
          </a:xfrm>
          <a:prstGeom prst="rect">
            <a:avLst/>
          </a:prstGeom>
        </p:spPr>
        <p:txBody>
          <a:bodyPr lIns="0" tIns="0" rIns="0" bIns="0" rtlCol="0" anchor="t">
            <a:spAutoFit/>
          </a:bodyPr>
          <a:lstStyle/>
          <a:p>
            <a:pPr algn="l">
              <a:lnSpc>
                <a:spcPts val="2870"/>
              </a:lnSpc>
            </a:pPr>
            <a:r>
              <a:rPr lang="en-US" sz="3299" spc="-168">
                <a:solidFill>
                  <a:srgbClr val="FFFFFF"/>
                </a:solidFill>
                <a:latin typeface="Inter"/>
                <a:ea typeface="Inter"/>
                <a:cs typeface="Inter"/>
                <a:sym typeface="Inter"/>
              </a:rPr>
              <a:t>Motivation</a:t>
            </a:r>
          </a:p>
        </p:txBody>
      </p:sp>
      <p:sp>
        <p:nvSpPr>
          <p:cNvPr id="16" name="TextBox 16"/>
          <p:cNvSpPr txBox="1"/>
          <p:nvPr/>
        </p:nvSpPr>
        <p:spPr>
          <a:xfrm>
            <a:off x="362191" y="5370194"/>
            <a:ext cx="5998199" cy="3783331"/>
          </a:xfrm>
          <a:prstGeom prst="rect">
            <a:avLst/>
          </a:prstGeom>
        </p:spPr>
        <p:txBody>
          <a:bodyPr lIns="0" tIns="0" rIns="0" bIns="0" rtlCol="0" anchor="t">
            <a:spAutoFit/>
          </a:bodyPr>
          <a:lstStyle/>
          <a:p>
            <a:pPr marL="582927" lvl="1" indent="-291463" algn="l">
              <a:lnSpc>
                <a:spcPts val="5129"/>
              </a:lnSpc>
              <a:buFont typeface="Arial"/>
              <a:buChar char="•"/>
            </a:pPr>
            <a:r>
              <a:rPr lang="en-US" sz="2699" b="1">
                <a:solidFill>
                  <a:srgbClr val="FFFFFF"/>
                </a:solidFill>
                <a:latin typeface="Inter Bold"/>
                <a:ea typeface="Inter Bold"/>
                <a:cs typeface="Inter Bold"/>
                <a:sym typeface="Inter Bold"/>
              </a:rPr>
              <a:t>Manual plate checks lead to delays and human errors</a:t>
            </a:r>
          </a:p>
          <a:p>
            <a:pPr algn="l">
              <a:lnSpc>
                <a:spcPts val="4939"/>
              </a:lnSpc>
            </a:pPr>
            <a:endParaRPr lang="en-US" sz="2699" b="1">
              <a:solidFill>
                <a:srgbClr val="FFFFFF"/>
              </a:solidFill>
              <a:latin typeface="Inter Bold"/>
              <a:ea typeface="Inter Bold"/>
              <a:cs typeface="Inter Bold"/>
              <a:sym typeface="Inter Bold"/>
            </a:endParaRPr>
          </a:p>
          <a:p>
            <a:pPr marL="604516" lvl="1" indent="-302258" algn="l">
              <a:lnSpc>
                <a:spcPts val="5319"/>
              </a:lnSpc>
              <a:buFont typeface="Arial"/>
              <a:buChar char="•"/>
            </a:pPr>
            <a:r>
              <a:rPr lang="en-US" sz="2799" b="1">
                <a:solidFill>
                  <a:srgbClr val="FFFFFF"/>
                </a:solidFill>
                <a:latin typeface="Inter Bold"/>
                <a:ea typeface="Inter Bold"/>
                <a:cs typeface="Inter Bold"/>
                <a:sym typeface="Inter Bold"/>
              </a:rPr>
              <a:t>No real-time system to handle Egyptian plates</a:t>
            </a:r>
          </a:p>
          <a:p>
            <a:pPr algn="l">
              <a:lnSpc>
                <a:spcPts val="4559"/>
              </a:lnSpc>
            </a:pPr>
            <a:endParaRPr lang="en-US" sz="2799" b="1">
              <a:solidFill>
                <a:srgbClr val="FFFFFF"/>
              </a:solidFill>
              <a:latin typeface="Inter Bold"/>
              <a:ea typeface="Inter Bold"/>
              <a:cs typeface="Inter Bold"/>
              <a:sym typeface="Inter Bold"/>
            </a:endParaRPr>
          </a:p>
        </p:txBody>
      </p:sp>
      <p:sp>
        <p:nvSpPr>
          <p:cNvPr id="17" name="TextBox 17"/>
          <p:cNvSpPr txBox="1"/>
          <p:nvPr/>
        </p:nvSpPr>
        <p:spPr>
          <a:xfrm>
            <a:off x="6799564" y="5184696"/>
            <a:ext cx="7184662" cy="3826511"/>
          </a:xfrm>
          <a:prstGeom prst="rect">
            <a:avLst/>
          </a:prstGeom>
        </p:spPr>
        <p:txBody>
          <a:bodyPr lIns="0" tIns="0" rIns="0" bIns="0" rtlCol="0" anchor="t">
            <a:spAutoFit/>
          </a:bodyPr>
          <a:lstStyle/>
          <a:p>
            <a:pPr marL="604516" lvl="1" indent="-302258" algn="l">
              <a:lnSpc>
                <a:spcPts val="5319"/>
              </a:lnSpc>
              <a:buFont typeface="Arial"/>
              <a:buChar char="•"/>
            </a:pPr>
            <a:r>
              <a:rPr lang="en-US" sz="2799" b="1">
                <a:solidFill>
                  <a:srgbClr val="FFFFFF"/>
                </a:solidFill>
                <a:latin typeface="Inter Bold"/>
                <a:ea typeface="Inter Bold"/>
                <a:cs typeface="Inter Bold"/>
                <a:sym typeface="Inter Bold"/>
              </a:rPr>
              <a:t>Security environments need faster, more accurate systems</a:t>
            </a:r>
          </a:p>
          <a:p>
            <a:pPr algn="l">
              <a:lnSpc>
                <a:spcPts val="4939"/>
              </a:lnSpc>
            </a:pPr>
            <a:endParaRPr lang="en-US" sz="2799" b="1">
              <a:solidFill>
                <a:srgbClr val="FFFFFF"/>
              </a:solidFill>
              <a:latin typeface="Inter Bold"/>
              <a:ea typeface="Inter Bold"/>
              <a:cs typeface="Inter Bold"/>
              <a:sym typeface="Inter Bold"/>
            </a:endParaRPr>
          </a:p>
          <a:p>
            <a:pPr marL="604516" lvl="1" indent="-302258" algn="l">
              <a:lnSpc>
                <a:spcPts val="5319"/>
              </a:lnSpc>
              <a:buFont typeface="Arial"/>
              <a:buChar char="•"/>
            </a:pPr>
            <a:r>
              <a:rPr lang="en-US" sz="2799" b="1">
                <a:solidFill>
                  <a:srgbClr val="FFFFFF"/>
                </a:solidFill>
                <a:latin typeface="Inter Bold"/>
                <a:ea typeface="Inter Bold"/>
                <a:cs typeface="Inter Bold"/>
                <a:sym typeface="Inter Bold"/>
              </a:rPr>
              <a:t>Our system reduces human effort and improves access control using AI</a:t>
            </a:r>
          </a:p>
          <a:p>
            <a:pPr algn="l">
              <a:lnSpc>
                <a:spcPts val="4559"/>
              </a:lnSpc>
            </a:pPr>
            <a:endParaRPr lang="en-US" sz="2799" b="1">
              <a:solidFill>
                <a:srgbClr val="FFFFFF"/>
              </a:solidFill>
              <a:latin typeface="Inter Bold"/>
              <a:ea typeface="Inter Bold"/>
              <a:cs typeface="Inter Bold"/>
              <a:sym typeface="Inter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V="1">
            <a:off x="14868160" y="6373836"/>
            <a:ext cx="13766629" cy="14882842"/>
          </a:xfrm>
          <a:custGeom>
            <a:avLst/>
            <a:gdLst/>
            <a:ahLst/>
            <a:cxnLst/>
            <a:rect l="l" t="t" r="r" b="b"/>
            <a:pathLst>
              <a:path w="13766629" h="14882842">
                <a:moveTo>
                  <a:pt x="0" y="14882842"/>
                </a:moveTo>
                <a:lnTo>
                  <a:pt x="13766629" y="14882842"/>
                </a:lnTo>
                <a:lnTo>
                  <a:pt x="13766629" y="0"/>
                </a:lnTo>
                <a:lnTo>
                  <a:pt x="0" y="0"/>
                </a:lnTo>
                <a:lnTo>
                  <a:pt x="0" y="14882842"/>
                </a:lnTo>
                <a:close/>
              </a:path>
            </a:pathLst>
          </a:custGeom>
          <a:blipFill>
            <a:blip r:embed="rId2">
              <a:alphaModFix amt="29000"/>
            </a:blip>
            <a:stretch>
              <a:fillRect/>
            </a:stretch>
          </a:blipFill>
        </p:spPr>
      </p:sp>
      <p:sp>
        <p:nvSpPr>
          <p:cNvPr id="3" name="TextBox 3"/>
          <p:cNvSpPr txBox="1"/>
          <p:nvPr/>
        </p:nvSpPr>
        <p:spPr>
          <a:xfrm>
            <a:off x="9906000" y="3663377"/>
            <a:ext cx="7640707" cy="3334246"/>
          </a:xfrm>
          <a:prstGeom prst="rect">
            <a:avLst/>
          </a:prstGeom>
        </p:spPr>
        <p:txBody>
          <a:bodyPr wrap="square" lIns="0" tIns="0" rIns="0" bIns="0" rtlCol="0" anchor="t">
            <a:spAutoFit/>
          </a:bodyPr>
          <a:lstStyle/>
          <a:p>
            <a:pPr algn="l">
              <a:lnSpc>
                <a:spcPts val="13045"/>
              </a:lnSpc>
            </a:pPr>
            <a:r>
              <a:rPr lang="en-US" sz="13045" spc="-260" dirty="0">
                <a:solidFill>
                  <a:srgbClr val="FFFFFF"/>
                </a:solidFill>
                <a:latin typeface="Times New Roman"/>
                <a:ea typeface="Times New Roman"/>
                <a:cs typeface="Times New Roman"/>
                <a:sym typeface="Times New Roman"/>
              </a:rPr>
              <a:t>Project Goals</a:t>
            </a:r>
          </a:p>
        </p:txBody>
      </p:sp>
      <p:sp>
        <p:nvSpPr>
          <p:cNvPr id="4" name="Freeform 4"/>
          <p:cNvSpPr/>
          <p:nvPr/>
        </p:nvSpPr>
        <p:spPr>
          <a:xfrm flipV="1">
            <a:off x="-7308427" y="-7246664"/>
            <a:ext cx="7858439" cy="8495610"/>
          </a:xfrm>
          <a:custGeom>
            <a:avLst/>
            <a:gdLst/>
            <a:ahLst/>
            <a:cxnLst/>
            <a:rect l="l" t="t" r="r" b="b"/>
            <a:pathLst>
              <a:path w="7858439" h="8495610">
                <a:moveTo>
                  <a:pt x="0" y="8495610"/>
                </a:moveTo>
                <a:lnTo>
                  <a:pt x="7858439" y="8495610"/>
                </a:lnTo>
                <a:lnTo>
                  <a:pt x="7858439" y="0"/>
                </a:lnTo>
                <a:lnTo>
                  <a:pt x="0" y="0"/>
                </a:lnTo>
                <a:lnTo>
                  <a:pt x="0" y="8495610"/>
                </a:lnTo>
                <a:close/>
              </a:path>
            </a:pathLst>
          </a:custGeom>
          <a:blipFill>
            <a:blip r:embed="rId3">
              <a:alphaModFix amt="59000"/>
            </a:blip>
            <a:stretch>
              <a:fillRect/>
            </a:stretch>
          </a:blipFill>
        </p:spPr>
      </p:sp>
      <p:sp>
        <p:nvSpPr>
          <p:cNvPr id="5" name="Freeform 5"/>
          <p:cNvSpPr/>
          <p:nvPr/>
        </p:nvSpPr>
        <p:spPr>
          <a:xfrm>
            <a:off x="550012" y="1872677"/>
            <a:ext cx="666920" cy="666920"/>
          </a:xfrm>
          <a:custGeom>
            <a:avLst/>
            <a:gdLst/>
            <a:ahLst/>
            <a:cxnLst/>
            <a:rect l="l" t="t" r="r" b="b"/>
            <a:pathLst>
              <a:path w="666920" h="666920">
                <a:moveTo>
                  <a:pt x="0" y="0"/>
                </a:moveTo>
                <a:lnTo>
                  <a:pt x="666920" y="0"/>
                </a:lnTo>
                <a:lnTo>
                  <a:pt x="666920" y="666920"/>
                </a:lnTo>
                <a:lnTo>
                  <a:pt x="0" y="6669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1490132" y="1853627"/>
            <a:ext cx="6115285" cy="1809750"/>
          </a:xfrm>
          <a:prstGeom prst="rect">
            <a:avLst/>
          </a:prstGeom>
        </p:spPr>
        <p:txBody>
          <a:bodyPr lIns="0" tIns="0" rIns="0" bIns="0" rtlCol="0" anchor="t">
            <a:spAutoFit/>
          </a:bodyPr>
          <a:lstStyle/>
          <a:p>
            <a:pPr algn="l">
              <a:lnSpc>
                <a:spcPts val="3599"/>
              </a:lnSpc>
            </a:pPr>
            <a:r>
              <a:rPr lang="en-US" sz="2999" spc="326">
                <a:solidFill>
                  <a:srgbClr val="FFFFFF"/>
                </a:solidFill>
                <a:latin typeface="Poppins"/>
                <a:ea typeface="Poppins"/>
                <a:cs typeface="Poppins"/>
                <a:sym typeface="Poppins"/>
              </a:rPr>
              <a:t>Enhance traffic monitoring, parking management</a:t>
            </a:r>
          </a:p>
          <a:p>
            <a:pPr algn="l">
              <a:lnSpc>
                <a:spcPts val="3599"/>
              </a:lnSpc>
            </a:pPr>
            <a:endParaRPr lang="en-US" sz="2999" spc="326">
              <a:solidFill>
                <a:srgbClr val="FFFFFF"/>
              </a:solidFill>
              <a:latin typeface="Poppins"/>
              <a:ea typeface="Poppins"/>
              <a:cs typeface="Poppins"/>
              <a:sym typeface="Poppins"/>
            </a:endParaRPr>
          </a:p>
        </p:txBody>
      </p:sp>
      <p:sp>
        <p:nvSpPr>
          <p:cNvPr id="7" name="Freeform 7"/>
          <p:cNvSpPr/>
          <p:nvPr/>
        </p:nvSpPr>
        <p:spPr>
          <a:xfrm>
            <a:off x="550012" y="4408805"/>
            <a:ext cx="666920" cy="666920"/>
          </a:xfrm>
          <a:custGeom>
            <a:avLst/>
            <a:gdLst/>
            <a:ahLst/>
            <a:cxnLst/>
            <a:rect l="l" t="t" r="r" b="b"/>
            <a:pathLst>
              <a:path w="666920" h="666920">
                <a:moveTo>
                  <a:pt x="0" y="0"/>
                </a:moveTo>
                <a:lnTo>
                  <a:pt x="666920" y="0"/>
                </a:lnTo>
                <a:lnTo>
                  <a:pt x="666920" y="666920"/>
                </a:lnTo>
                <a:lnTo>
                  <a:pt x="0" y="6669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8" name="TextBox 8"/>
          <p:cNvSpPr txBox="1"/>
          <p:nvPr/>
        </p:nvSpPr>
        <p:spPr>
          <a:xfrm>
            <a:off x="1490132" y="4579388"/>
            <a:ext cx="1640580" cy="344805"/>
          </a:xfrm>
          <a:prstGeom prst="rect">
            <a:avLst/>
          </a:prstGeom>
        </p:spPr>
        <p:txBody>
          <a:bodyPr lIns="0" tIns="0" rIns="0" bIns="0" rtlCol="0" anchor="t">
            <a:spAutoFit/>
          </a:bodyPr>
          <a:lstStyle/>
          <a:p>
            <a:pPr algn="l">
              <a:lnSpc>
                <a:spcPts val="2640"/>
              </a:lnSpc>
            </a:pPr>
            <a:endParaRPr/>
          </a:p>
        </p:txBody>
      </p:sp>
      <p:sp>
        <p:nvSpPr>
          <p:cNvPr id="9" name="Freeform 9"/>
          <p:cNvSpPr/>
          <p:nvPr/>
        </p:nvSpPr>
        <p:spPr>
          <a:xfrm>
            <a:off x="15253210" y="5450198"/>
            <a:ext cx="1130768" cy="1124600"/>
          </a:xfrm>
          <a:custGeom>
            <a:avLst/>
            <a:gdLst/>
            <a:ahLst/>
            <a:cxnLst/>
            <a:rect l="l" t="t" r="r" b="b"/>
            <a:pathLst>
              <a:path w="1130768" h="1124600">
                <a:moveTo>
                  <a:pt x="0" y="0"/>
                </a:moveTo>
                <a:lnTo>
                  <a:pt x="1130768" y="0"/>
                </a:lnTo>
                <a:lnTo>
                  <a:pt x="1130768" y="1124600"/>
                </a:lnTo>
                <a:lnTo>
                  <a:pt x="0" y="112460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0" name="AutoShape 10"/>
          <p:cNvSpPr/>
          <p:nvPr/>
        </p:nvSpPr>
        <p:spPr>
          <a:xfrm>
            <a:off x="6775450" y="7245350"/>
            <a:ext cx="10483850" cy="0"/>
          </a:xfrm>
          <a:prstGeom prst="line">
            <a:avLst/>
          </a:prstGeom>
          <a:ln w="9525" cap="flat">
            <a:solidFill>
              <a:srgbClr val="FFFFFF"/>
            </a:solidFill>
            <a:prstDash val="solid"/>
            <a:headEnd type="none" w="sm" len="sm"/>
            <a:tailEnd type="none" w="sm" len="sm"/>
          </a:ln>
        </p:spPr>
      </p:sp>
      <p:sp>
        <p:nvSpPr>
          <p:cNvPr id="11" name="TextBox 11"/>
          <p:cNvSpPr txBox="1"/>
          <p:nvPr/>
        </p:nvSpPr>
        <p:spPr>
          <a:xfrm>
            <a:off x="1216932" y="4323080"/>
            <a:ext cx="4806630" cy="1609725"/>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Poppins"/>
                <a:ea typeface="Poppins"/>
                <a:cs typeface="Poppins"/>
                <a:sym typeface="Poppins"/>
              </a:rPr>
              <a:t>Improve security and reduce manual effort  </a:t>
            </a:r>
          </a:p>
          <a:p>
            <a:pPr algn="ctr">
              <a:lnSpc>
                <a:spcPts val="4200"/>
              </a:lnSpc>
              <a:spcBef>
                <a:spcPct val="0"/>
              </a:spcBef>
            </a:pPr>
            <a:endParaRPr lang="en-US" sz="3000">
              <a:solidFill>
                <a:srgbClr val="FFFFFF"/>
              </a:solidFill>
              <a:latin typeface="Poppins"/>
              <a:ea typeface="Poppins"/>
              <a:cs typeface="Poppins"/>
              <a:sym typeface="Poppins"/>
            </a:endParaRPr>
          </a:p>
        </p:txBody>
      </p:sp>
      <p:sp>
        <p:nvSpPr>
          <p:cNvPr id="12" name="Freeform 12"/>
          <p:cNvSpPr/>
          <p:nvPr/>
        </p:nvSpPr>
        <p:spPr>
          <a:xfrm>
            <a:off x="550012" y="6404231"/>
            <a:ext cx="666920" cy="666920"/>
          </a:xfrm>
          <a:custGeom>
            <a:avLst/>
            <a:gdLst/>
            <a:ahLst/>
            <a:cxnLst/>
            <a:rect l="l" t="t" r="r" b="b"/>
            <a:pathLst>
              <a:path w="666920" h="666920">
                <a:moveTo>
                  <a:pt x="0" y="0"/>
                </a:moveTo>
                <a:lnTo>
                  <a:pt x="666920" y="0"/>
                </a:lnTo>
                <a:lnTo>
                  <a:pt x="666920" y="666920"/>
                </a:lnTo>
                <a:lnTo>
                  <a:pt x="0" y="66692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3" name="TextBox 13"/>
          <p:cNvSpPr txBox="1"/>
          <p:nvPr/>
        </p:nvSpPr>
        <p:spPr>
          <a:xfrm>
            <a:off x="1490132" y="6392886"/>
            <a:ext cx="1640580" cy="344805"/>
          </a:xfrm>
          <a:prstGeom prst="rect">
            <a:avLst/>
          </a:prstGeom>
        </p:spPr>
        <p:txBody>
          <a:bodyPr lIns="0" tIns="0" rIns="0" bIns="0" rtlCol="0" anchor="t">
            <a:spAutoFit/>
          </a:bodyPr>
          <a:lstStyle/>
          <a:p>
            <a:pPr algn="l">
              <a:lnSpc>
                <a:spcPts val="2640"/>
              </a:lnSpc>
            </a:pPr>
            <a:endParaRPr/>
          </a:p>
        </p:txBody>
      </p:sp>
      <p:sp>
        <p:nvSpPr>
          <p:cNvPr id="14" name="TextBox 14"/>
          <p:cNvSpPr txBox="1"/>
          <p:nvPr/>
        </p:nvSpPr>
        <p:spPr>
          <a:xfrm>
            <a:off x="1028700" y="6434455"/>
            <a:ext cx="5362840" cy="1545590"/>
          </a:xfrm>
          <a:prstGeom prst="rect">
            <a:avLst/>
          </a:prstGeom>
        </p:spPr>
        <p:txBody>
          <a:bodyPr lIns="0" tIns="0" rIns="0" bIns="0" rtlCol="0" anchor="t">
            <a:spAutoFit/>
          </a:bodyPr>
          <a:lstStyle/>
          <a:p>
            <a:pPr algn="ctr">
              <a:lnSpc>
                <a:spcPts val="4060"/>
              </a:lnSpc>
              <a:spcBef>
                <a:spcPct val="0"/>
              </a:spcBef>
            </a:pPr>
            <a:r>
              <a:rPr lang="en-US" sz="2900">
                <a:solidFill>
                  <a:srgbClr val="FFFFFF"/>
                </a:solidFill>
                <a:latin typeface="Poppins"/>
                <a:ea typeface="Poppins"/>
                <a:cs typeface="Poppins"/>
                <a:sym typeface="Poppins"/>
              </a:rPr>
              <a:t>Create a reliable tool for future smart city applications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097433" y="-3627197"/>
            <a:ext cx="7156964" cy="7156964"/>
          </a:xfrm>
          <a:custGeom>
            <a:avLst/>
            <a:gdLst/>
            <a:ahLst/>
            <a:cxnLst/>
            <a:rect l="l" t="t" r="r" b="b"/>
            <a:pathLst>
              <a:path w="7156964" h="7156964">
                <a:moveTo>
                  <a:pt x="0" y="0"/>
                </a:moveTo>
                <a:lnTo>
                  <a:pt x="7156964" y="0"/>
                </a:lnTo>
                <a:lnTo>
                  <a:pt x="7156964" y="7156964"/>
                </a:lnTo>
                <a:lnTo>
                  <a:pt x="0" y="7156964"/>
                </a:lnTo>
                <a:lnTo>
                  <a:pt x="0" y="0"/>
                </a:lnTo>
                <a:close/>
              </a:path>
            </a:pathLst>
          </a:custGeom>
          <a:blipFill>
            <a:blip r:embed="rId2">
              <a:alphaModFix amt="30000"/>
            </a:blip>
            <a:stretch>
              <a:fillRect/>
            </a:stretch>
          </a:blipFill>
        </p:spPr>
      </p:sp>
      <p:sp>
        <p:nvSpPr>
          <p:cNvPr id="3" name="Freeform 3"/>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3165792" y="765173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2">
              <a:alphaModFix amt="30000"/>
            </a:blip>
            <a:stretch>
              <a:fillRect/>
            </a:stretch>
          </a:blipFill>
        </p:spPr>
      </p:sp>
      <p:grpSp>
        <p:nvGrpSpPr>
          <p:cNvPr id="5" name="Group 5"/>
          <p:cNvGrpSpPr/>
          <p:nvPr/>
        </p:nvGrpSpPr>
        <p:grpSpPr>
          <a:xfrm>
            <a:off x="602881" y="1809126"/>
            <a:ext cx="7840408" cy="8884233"/>
            <a:chOff x="0" y="0"/>
            <a:chExt cx="5523230" cy="6258560"/>
          </a:xfrm>
        </p:grpSpPr>
        <p:sp>
          <p:nvSpPr>
            <p:cNvPr id="6" name="Freeform 6"/>
            <p:cNvSpPr/>
            <p:nvPr/>
          </p:nvSpPr>
          <p:spPr>
            <a:xfrm>
              <a:off x="0" y="0"/>
              <a:ext cx="5523230" cy="6258560"/>
            </a:xfrm>
            <a:custGeom>
              <a:avLst/>
              <a:gdLst/>
              <a:ahLst/>
              <a:cxnLst/>
              <a:rect l="l" t="t" r="r" b="b"/>
              <a:pathLst>
                <a:path w="5523230" h="6258560">
                  <a:moveTo>
                    <a:pt x="0" y="0"/>
                  </a:moveTo>
                  <a:lnTo>
                    <a:pt x="2393950" y="273050"/>
                  </a:lnTo>
                  <a:lnTo>
                    <a:pt x="5335270" y="4263390"/>
                  </a:lnTo>
                  <a:lnTo>
                    <a:pt x="5523230" y="6258560"/>
                  </a:lnTo>
                  <a:lnTo>
                    <a:pt x="1343660" y="6090920"/>
                  </a:lnTo>
                  <a:close/>
                </a:path>
              </a:pathLst>
            </a:custGeom>
            <a:blipFill>
              <a:blip r:embed="rId5"/>
              <a:stretch>
                <a:fillRect l="-1787" r="-1787"/>
              </a:stretch>
            </a:blipFill>
          </p:spPr>
        </p:sp>
      </p:grpSp>
      <p:grpSp>
        <p:nvGrpSpPr>
          <p:cNvPr id="7" name="Group 7"/>
          <p:cNvGrpSpPr/>
          <p:nvPr/>
        </p:nvGrpSpPr>
        <p:grpSpPr>
          <a:xfrm>
            <a:off x="10462380" y="1777022"/>
            <a:ext cx="597518" cy="103605"/>
            <a:chOff x="0" y="0"/>
            <a:chExt cx="812800" cy="140934"/>
          </a:xfrm>
        </p:grpSpPr>
        <p:sp>
          <p:nvSpPr>
            <p:cNvPr id="8" name="Freeform 8"/>
            <p:cNvSpPr/>
            <p:nvPr/>
          </p:nvSpPr>
          <p:spPr>
            <a:xfrm>
              <a:off x="0" y="0"/>
              <a:ext cx="812800" cy="140934"/>
            </a:xfrm>
            <a:custGeom>
              <a:avLst/>
              <a:gdLst/>
              <a:ahLst/>
              <a:cxnLst/>
              <a:rect l="l" t="t" r="r" b="b"/>
              <a:pathLst>
                <a:path w="812800" h="140934">
                  <a:moveTo>
                    <a:pt x="0" y="0"/>
                  </a:moveTo>
                  <a:lnTo>
                    <a:pt x="812800" y="0"/>
                  </a:lnTo>
                  <a:lnTo>
                    <a:pt x="812800" y="140934"/>
                  </a:lnTo>
                  <a:lnTo>
                    <a:pt x="0" y="140934"/>
                  </a:lnTo>
                  <a:close/>
                </a:path>
              </a:pathLst>
            </a:custGeom>
            <a:solidFill>
              <a:srgbClr val="FFFFFF"/>
            </a:solidFill>
          </p:spPr>
        </p:sp>
        <p:sp>
          <p:nvSpPr>
            <p:cNvPr id="9" name="TextBox 9"/>
            <p:cNvSpPr txBox="1"/>
            <p:nvPr/>
          </p:nvSpPr>
          <p:spPr>
            <a:xfrm>
              <a:off x="0" y="-38100"/>
              <a:ext cx="812800" cy="179034"/>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0761139" y="3988747"/>
            <a:ext cx="597723" cy="597723"/>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FFFF"/>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3079"/>
                </a:lnSpc>
              </a:pPr>
              <a:endParaRPr/>
            </a:p>
          </p:txBody>
        </p:sp>
      </p:grpSp>
      <p:grpSp>
        <p:nvGrpSpPr>
          <p:cNvPr id="13" name="Group 13"/>
          <p:cNvGrpSpPr/>
          <p:nvPr/>
        </p:nvGrpSpPr>
        <p:grpSpPr>
          <a:xfrm>
            <a:off x="10761139" y="6235335"/>
            <a:ext cx="597723" cy="597723"/>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FFFF"/>
            </a:solidFill>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3079"/>
                </a:lnSpc>
              </a:pPr>
              <a:r>
                <a:rPr lang="en-US" sz="2199" b="1">
                  <a:solidFill>
                    <a:srgbClr val="1F1D1E"/>
                  </a:solidFill>
                  <a:latin typeface="Canva Sans Bold"/>
                  <a:ea typeface="Canva Sans Bold"/>
                  <a:cs typeface="Canva Sans Bold"/>
                  <a:sym typeface="Canva Sans Bold"/>
                </a:rPr>
                <a:t>2</a:t>
              </a:r>
            </a:p>
          </p:txBody>
        </p:sp>
      </p:grpSp>
      <p:grpSp>
        <p:nvGrpSpPr>
          <p:cNvPr id="16" name="Group 16"/>
          <p:cNvGrpSpPr/>
          <p:nvPr/>
        </p:nvGrpSpPr>
        <p:grpSpPr>
          <a:xfrm>
            <a:off x="10761139" y="8431727"/>
            <a:ext cx="597723" cy="597723"/>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FFFF"/>
            </a:solidFill>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462380" y="2213026"/>
            <a:ext cx="4313109" cy="1002665"/>
          </a:xfrm>
          <a:prstGeom prst="rect">
            <a:avLst/>
          </a:prstGeom>
        </p:spPr>
        <p:txBody>
          <a:bodyPr lIns="0" tIns="0" rIns="0" bIns="0" rtlCol="0" anchor="t">
            <a:spAutoFit/>
          </a:bodyPr>
          <a:lstStyle/>
          <a:p>
            <a:pPr algn="l">
              <a:lnSpc>
                <a:spcPts val="7629"/>
              </a:lnSpc>
            </a:pPr>
            <a:r>
              <a:rPr lang="en-US" sz="6999" b="1">
                <a:solidFill>
                  <a:srgbClr val="FFFFFF"/>
                </a:solidFill>
                <a:latin typeface="Bebas Neue Bold"/>
                <a:ea typeface="Bebas Neue Bold"/>
                <a:cs typeface="Bebas Neue Bold"/>
                <a:sym typeface="Bebas Neue Bold"/>
              </a:rPr>
              <a:t>CHALLENGES</a:t>
            </a:r>
          </a:p>
        </p:txBody>
      </p:sp>
      <p:sp>
        <p:nvSpPr>
          <p:cNvPr id="20" name="TextBox 20"/>
          <p:cNvSpPr txBox="1"/>
          <p:nvPr/>
        </p:nvSpPr>
        <p:spPr>
          <a:xfrm>
            <a:off x="10889652" y="4089176"/>
            <a:ext cx="340698" cy="389245"/>
          </a:xfrm>
          <a:prstGeom prst="rect">
            <a:avLst/>
          </a:prstGeom>
        </p:spPr>
        <p:txBody>
          <a:bodyPr lIns="0" tIns="0" rIns="0" bIns="0" rtlCol="0" anchor="t">
            <a:spAutoFit/>
          </a:bodyPr>
          <a:lstStyle/>
          <a:p>
            <a:pPr algn="ctr">
              <a:lnSpc>
                <a:spcPts val="3220"/>
              </a:lnSpc>
              <a:spcBef>
                <a:spcPct val="0"/>
              </a:spcBef>
            </a:pPr>
            <a:r>
              <a:rPr lang="en-US" sz="2300" b="1">
                <a:solidFill>
                  <a:srgbClr val="1F1D1E"/>
                </a:solidFill>
                <a:latin typeface="Open Sans 2 Bold"/>
                <a:ea typeface="Open Sans 2 Bold"/>
                <a:cs typeface="Open Sans 2 Bold"/>
                <a:sym typeface="Open Sans 2 Bold"/>
              </a:rPr>
              <a:t>1</a:t>
            </a:r>
          </a:p>
        </p:txBody>
      </p:sp>
      <p:sp>
        <p:nvSpPr>
          <p:cNvPr id="21" name="TextBox 21"/>
          <p:cNvSpPr txBox="1"/>
          <p:nvPr/>
        </p:nvSpPr>
        <p:spPr>
          <a:xfrm>
            <a:off x="11640657" y="3796467"/>
            <a:ext cx="6348584" cy="1628203"/>
          </a:xfrm>
          <a:prstGeom prst="rect">
            <a:avLst/>
          </a:prstGeom>
        </p:spPr>
        <p:txBody>
          <a:bodyPr lIns="0" tIns="0" rIns="0" bIns="0" rtlCol="0" anchor="t">
            <a:spAutoFit/>
          </a:bodyPr>
          <a:lstStyle/>
          <a:p>
            <a:pPr algn="l">
              <a:lnSpc>
                <a:spcPts val="3743"/>
              </a:lnSpc>
            </a:pPr>
            <a:r>
              <a:rPr lang="en-US" sz="3199" spc="12">
                <a:solidFill>
                  <a:srgbClr val="FFFFFF"/>
                </a:solidFill>
                <a:latin typeface="Quicksand"/>
                <a:ea typeface="Quicksand"/>
                <a:cs typeface="Quicksand"/>
                <a:sym typeface="Quicksand"/>
              </a:rPr>
              <a:t>Recognizing Egyptian license plates that include both Arabic letters and numbers.</a:t>
            </a:r>
          </a:p>
          <a:p>
            <a:pPr algn="l">
              <a:lnSpc>
                <a:spcPts val="1754"/>
              </a:lnSpc>
            </a:pPr>
            <a:endParaRPr lang="en-US" sz="3199" spc="12">
              <a:solidFill>
                <a:srgbClr val="FFFFFF"/>
              </a:solidFill>
              <a:latin typeface="Quicksand"/>
              <a:ea typeface="Quicksand"/>
              <a:cs typeface="Quicksand"/>
              <a:sym typeface="Quicksand"/>
            </a:endParaRPr>
          </a:p>
        </p:txBody>
      </p:sp>
      <p:sp>
        <p:nvSpPr>
          <p:cNvPr id="22" name="TextBox 22"/>
          <p:cNvSpPr txBox="1"/>
          <p:nvPr/>
        </p:nvSpPr>
        <p:spPr>
          <a:xfrm>
            <a:off x="10889652" y="8532157"/>
            <a:ext cx="340698" cy="389245"/>
          </a:xfrm>
          <a:prstGeom prst="rect">
            <a:avLst/>
          </a:prstGeom>
        </p:spPr>
        <p:txBody>
          <a:bodyPr lIns="0" tIns="0" rIns="0" bIns="0" rtlCol="0" anchor="t">
            <a:spAutoFit/>
          </a:bodyPr>
          <a:lstStyle/>
          <a:p>
            <a:pPr algn="ctr">
              <a:lnSpc>
                <a:spcPts val="3220"/>
              </a:lnSpc>
              <a:spcBef>
                <a:spcPct val="0"/>
              </a:spcBef>
            </a:pPr>
            <a:r>
              <a:rPr lang="en-US" sz="2300" b="1">
                <a:solidFill>
                  <a:srgbClr val="1F1D1E"/>
                </a:solidFill>
                <a:latin typeface="Open Sans 2 Bold"/>
                <a:ea typeface="Open Sans 2 Bold"/>
                <a:cs typeface="Open Sans 2 Bold"/>
                <a:sym typeface="Open Sans 2 Bold"/>
              </a:rPr>
              <a:t>3</a:t>
            </a:r>
          </a:p>
        </p:txBody>
      </p:sp>
      <p:sp>
        <p:nvSpPr>
          <p:cNvPr id="23" name="TextBox 23"/>
          <p:cNvSpPr txBox="1"/>
          <p:nvPr/>
        </p:nvSpPr>
        <p:spPr>
          <a:xfrm>
            <a:off x="11640657" y="6022393"/>
            <a:ext cx="6348584" cy="1628203"/>
          </a:xfrm>
          <a:prstGeom prst="rect">
            <a:avLst/>
          </a:prstGeom>
        </p:spPr>
        <p:txBody>
          <a:bodyPr lIns="0" tIns="0" rIns="0" bIns="0" rtlCol="0" anchor="t">
            <a:spAutoFit/>
          </a:bodyPr>
          <a:lstStyle/>
          <a:p>
            <a:pPr algn="l">
              <a:lnSpc>
                <a:spcPts val="3743"/>
              </a:lnSpc>
            </a:pPr>
            <a:r>
              <a:rPr lang="en-US" sz="3199" spc="12">
                <a:solidFill>
                  <a:srgbClr val="FFFFFF"/>
                </a:solidFill>
                <a:latin typeface="Quicksand"/>
                <a:ea typeface="Quicksand"/>
                <a:cs typeface="Quicksand"/>
                <a:sym typeface="Quicksand"/>
              </a:rPr>
              <a:t>Handling Arabic text direction and reshaping characters for correct display.</a:t>
            </a:r>
          </a:p>
          <a:p>
            <a:pPr algn="l">
              <a:lnSpc>
                <a:spcPts val="1754"/>
              </a:lnSpc>
            </a:pPr>
            <a:endParaRPr lang="en-US" sz="3199" spc="12">
              <a:solidFill>
                <a:srgbClr val="FFFFFF"/>
              </a:solidFill>
              <a:latin typeface="Quicksand"/>
              <a:ea typeface="Quicksand"/>
              <a:cs typeface="Quicksand"/>
              <a:sym typeface="Quicksand"/>
            </a:endParaRPr>
          </a:p>
        </p:txBody>
      </p:sp>
      <p:sp>
        <p:nvSpPr>
          <p:cNvPr id="24" name="TextBox 24"/>
          <p:cNvSpPr txBox="1"/>
          <p:nvPr/>
        </p:nvSpPr>
        <p:spPr>
          <a:xfrm>
            <a:off x="11640657" y="8250672"/>
            <a:ext cx="6348584" cy="1628203"/>
          </a:xfrm>
          <a:prstGeom prst="rect">
            <a:avLst/>
          </a:prstGeom>
        </p:spPr>
        <p:txBody>
          <a:bodyPr lIns="0" tIns="0" rIns="0" bIns="0" rtlCol="0" anchor="t">
            <a:spAutoFit/>
          </a:bodyPr>
          <a:lstStyle/>
          <a:p>
            <a:pPr algn="l">
              <a:lnSpc>
                <a:spcPts val="3743"/>
              </a:lnSpc>
            </a:pPr>
            <a:r>
              <a:rPr lang="en-US" sz="3199" spc="12">
                <a:solidFill>
                  <a:srgbClr val="FFFFFF"/>
                </a:solidFill>
                <a:latin typeface="Quicksand"/>
                <a:ea typeface="Quicksand"/>
                <a:cs typeface="Quicksand"/>
                <a:sym typeface="Quicksand"/>
              </a:rPr>
              <a:t>Ensuring accurate plate detection and recognition in real-time video</a:t>
            </a:r>
          </a:p>
          <a:p>
            <a:pPr algn="l">
              <a:lnSpc>
                <a:spcPts val="1754"/>
              </a:lnSpc>
            </a:pPr>
            <a:endParaRPr lang="en-US" sz="3199" spc="12">
              <a:solidFill>
                <a:srgbClr val="FFFFFF"/>
              </a:solidFill>
              <a:latin typeface="Quicksand"/>
              <a:ea typeface="Quicksand"/>
              <a:cs typeface="Quicksand"/>
              <a:sym typeface="Quicksa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8444"/>
            </a:stretch>
          </a:blipFill>
        </p:spPr>
      </p:sp>
      <p:grpSp>
        <p:nvGrpSpPr>
          <p:cNvPr id="3" name="Group 3"/>
          <p:cNvGrpSpPr/>
          <p:nvPr/>
        </p:nvGrpSpPr>
        <p:grpSpPr>
          <a:xfrm>
            <a:off x="9784783" y="1365020"/>
            <a:ext cx="7097287" cy="2434044"/>
            <a:chOff x="0" y="0"/>
            <a:chExt cx="2213460" cy="759115"/>
          </a:xfrm>
        </p:grpSpPr>
        <p:sp>
          <p:nvSpPr>
            <p:cNvPr id="4" name="Freeform 4"/>
            <p:cNvSpPr/>
            <p:nvPr/>
          </p:nvSpPr>
          <p:spPr>
            <a:xfrm>
              <a:off x="0" y="0"/>
              <a:ext cx="2213460" cy="759115"/>
            </a:xfrm>
            <a:custGeom>
              <a:avLst/>
              <a:gdLst/>
              <a:ahLst/>
              <a:cxnLst/>
              <a:rect l="l" t="t" r="r" b="b"/>
              <a:pathLst>
                <a:path w="2213460" h="759115">
                  <a:moveTo>
                    <a:pt x="16362" y="0"/>
                  </a:moveTo>
                  <a:lnTo>
                    <a:pt x="2197097" y="0"/>
                  </a:lnTo>
                  <a:cubicBezTo>
                    <a:pt x="2201437" y="0"/>
                    <a:pt x="2205599" y="1724"/>
                    <a:pt x="2208667" y="4792"/>
                  </a:cubicBezTo>
                  <a:cubicBezTo>
                    <a:pt x="2211736" y="7861"/>
                    <a:pt x="2213460" y="12023"/>
                    <a:pt x="2213460" y="16362"/>
                  </a:cubicBezTo>
                  <a:lnTo>
                    <a:pt x="2213460" y="742753"/>
                  </a:lnTo>
                  <a:cubicBezTo>
                    <a:pt x="2213460" y="747092"/>
                    <a:pt x="2211736" y="751254"/>
                    <a:pt x="2208667" y="754323"/>
                  </a:cubicBezTo>
                  <a:cubicBezTo>
                    <a:pt x="2205599" y="757391"/>
                    <a:pt x="2201437" y="759115"/>
                    <a:pt x="2197097" y="759115"/>
                  </a:cubicBezTo>
                  <a:lnTo>
                    <a:pt x="16362" y="759115"/>
                  </a:lnTo>
                  <a:cubicBezTo>
                    <a:pt x="12023" y="759115"/>
                    <a:pt x="7861" y="757391"/>
                    <a:pt x="4792" y="754323"/>
                  </a:cubicBezTo>
                  <a:cubicBezTo>
                    <a:pt x="1724" y="751254"/>
                    <a:pt x="0" y="747092"/>
                    <a:pt x="0" y="742753"/>
                  </a:cubicBezTo>
                  <a:lnTo>
                    <a:pt x="0" y="16362"/>
                  </a:lnTo>
                  <a:cubicBezTo>
                    <a:pt x="0" y="12023"/>
                    <a:pt x="1724" y="7861"/>
                    <a:pt x="4792" y="4792"/>
                  </a:cubicBezTo>
                  <a:cubicBezTo>
                    <a:pt x="7861" y="1724"/>
                    <a:pt x="12023" y="0"/>
                    <a:pt x="16362" y="0"/>
                  </a:cubicBezTo>
                  <a:close/>
                </a:path>
              </a:pathLst>
            </a:custGeom>
            <a:solidFill>
              <a:srgbClr val="FFFBF7"/>
            </a:solidFill>
            <a:ln w="9525" cap="sq">
              <a:solidFill>
                <a:srgbClr val="000000"/>
              </a:solidFill>
              <a:prstDash val="solid"/>
              <a:miter/>
            </a:ln>
          </p:spPr>
        </p:sp>
        <p:sp>
          <p:nvSpPr>
            <p:cNvPr id="5" name="TextBox 5"/>
            <p:cNvSpPr txBox="1"/>
            <p:nvPr/>
          </p:nvSpPr>
          <p:spPr>
            <a:xfrm>
              <a:off x="0" y="-38100"/>
              <a:ext cx="2213460" cy="7972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9784783" y="3925191"/>
            <a:ext cx="7097287" cy="2434044"/>
            <a:chOff x="0" y="0"/>
            <a:chExt cx="2213460" cy="759115"/>
          </a:xfrm>
        </p:grpSpPr>
        <p:sp>
          <p:nvSpPr>
            <p:cNvPr id="7" name="Freeform 7"/>
            <p:cNvSpPr/>
            <p:nvPr/>
          </p:nvSpPr>
          <p:spPr>
            <a:xfrm>
              <a:off x="0" y="0"/>
              <a:ext cx="2213460" cy="759115"/>
            </a:xfrm>
            <a:custGeom>
              <a:avLst/>
              <a:gdLst/>
              <a:ahLst/>
              <a:cxnLst/>
              <a:rect l="l" t="t" r="r" b="b"/>
              <a:pathLst>
                <a:path w="2213460" h="759115">
                  <a:moveTo>
                    <a:pt x="16362" y="0"/>
                  </a:moveTo>
                  <a:lnTo>
                    <a:pt x="2197097" y="0"/>
                  </a:lnTo>
                  <a:cubicBezTo>
                    <a:pt x="2201437" y="0"/>
                    <a:pt x="2205599" y="1724"/>
                    <a:pt x="2208667" y="4792"/>
                  </a:cubicBezTo>
                  <a:cubicBezTo>
                    <a:pt x="2211736" y="7861"/>
                    <a:pt x="2213460" y="12023"/>
                    <a:pt x="2213460" y="16362"/>
                  </a:cubicBezTo>
                  <a:lnTo>
                    <a:pt x="2213460" y="742753"/>
                  </a:lnTo>
                  <a:cubicBezTo>
                    <a:pt x="2213460" y="747092"/>
                    <a:pt x="2211736" y="751254"/>
                    <a:pt x="2208667" y="754323"/>
                  </a:cubicBezTo>
                  <a:cubicBezTo>
                    <a:pt x="2205599" y="757391"/>
                    <a:pt x="2201437" y="759115"/>
                    <a:pt x="2197097" y="759115"/>
                  </a:cubicBezTo>
                  <a:lnTo>
                    <a:pt x="16362" y="759115"/>
                  </a:lnTo>
                  <a:cubicBezTo>
                    <a:pt x="12023" y="759115"/>
                    <a:pt x="7861" y="757391"/>
                    <a:pt x="4792" y="754323"/>
                  </a:cubicBezTo>
                  <a:cubicBezTo>
                    <a:pt x="1724" y="751254"/>
                    <a:pt x="0" y="747092"/>
                    <a:pt x="0" y="742753"/>
                  </a:cubicBezTo>
                  <a:lnTo>
                    <a:pt x="0" y="16362"/>
                  </a:lnTo>
                  <a:cubicBezTo>
                    <a:pt x="0" y="12023"/>
                    <a:pt x="1724" y="7861"/>
                    <a:pt x="4792" y="4792"/>
                  </a:cubicBezTo>
                  <a:cubicBezTo>
                    <a:pt x="7861" y="1724"/>
                    <a:pt x="12023" y="0"/>
                    <a:pt x="16362" y="0"/>
                  </a:cubicBezTo>
                  <a:close/>
                </a:path>
              </a:pathLst>
            </a:custGeom>
            <a:solidFill>
              <a:srgbClr val="FFFBF7"/>
            </a:solidFill>
            <a:ln w="9525" cap="sq">
              <a:solidFill>
                <a:srgbClr val="000000"/>
              </a:solidFill>
              <a:prstDash val="solid"/>
              <a:miter/>
            </a:ln>
          </p:spPr>
        </p:sp>
        <p:sp>
          <p:nvSpPr>
            <p:cNvPr id="8" name="TextBox 8"/>
            <p:cNvSpPr txBox="1"/>
            <p:nvPr/>
          </p:nvSpPr>
          <p:spPr>
            <a:xfrm>
              <a:off x="0" y="-38100"/>
              <a:ext cx="2213460" cy="79721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784783" y="6487936"/>
            <a:ext cx="7097287" cy="2434044"/>
            <a:chOff x="0" y="0"/>
            <a:chExt cx="2213460" cy="759115"/>
          </a:xfrm>
        </p:grpSpPr>
        <p:sp>
          <p:nvSpPr>
            <p:cNvPr id="10" name="Freeform 10"/>
            <p:cNvSpPr/>
            <p:nvPr/>
          </p:nvSpPr>
          <p:spPr>
            <a:xfrm>
              <a:off x="0" y="0"/>
              <a:ext cx="2213460" cy="759115"/>
            </a:xfrm>
            <a:custGeom>
              <a:avLst/>
              <a:gdLst/>
              <a:ahLst/>
              <a:cxnLst/>
              <a:rect l="l" t="t" r="r" b="b"/>
              <a:pathLst>
                <a:path w="2213460" h="759115">
                  <a:moveTo>
                    <a:pt x="16362" y="0"/>
                  </a:moveTo>
                  <a:lnTo>
                    <a:pt x="2197097" y="0"/>
                  </a:lnTo>
                  <a:cubicBezTo>
                    <a:pt x="2201437" y="0"/>
                    <a:pt x="2205599" y="1724"/>
                    <a:pt x="2208667" y="4792"/>
                  </a:cubicBezTo>
                  <a:cubicBezTo>
                    <a:pt x="2211736" y="7861"/>
                    <a:pt x="2213460" y="12023"/>
                    <a:pt x="2213460" y="16362"/>
                  </a:cubicBezTo>
                  <a:lnTo>
                    <a:pt x="2213460" y="742753"/>
                  </a:lnTo>
                  <a:cubicBezTo>
                    <a:pt x="2213460" y="747092"/>
                    <a:pt x="2211736" y="751254"/>
                    <a:pt x="2208667" y="754323"/>
                  </a:cubicBezTo>
                  <a:cubicBezTo>
                    <a:pt x="2205599" y="757391"/>
                    <a:pt x="2201437" y="759115"/>
                    <a:pt x="2197097" y="759115"/>
                  </a:cubicBezTo>
                  <a:lnTo>
                    <a:pt x="16362" y="759115"/>
                  </a:lnTo>
                  <a:cubicBezTo>
                    <a:pt x="12023" y="759115"/>
                    <a:pt x="7861" y="757391"/>
                    <a:pt x="4792" y="754323"/>
                  </a:cubicBezTo>
                  <a:cubicBezTo>
                    <a:pt x="1724" y="751254"/>
                    <a:pt x="0" y="747092"/>
                    <a:pt x="0" y="742753"/>
                  </a:cubicBezTo>
                  <a:lnTo>
                    <a:pt x="0" y="16362"/>
                  </a:lnTo>
                  <a:cubicBezTo>
                    <a:pt x="0" y="12023"/>
                    <a:pt x="1724" y="7861"/>
                    <a:pt x="4792" y="4792"/>
                  </a:cubicBezTo>
                  <a:cubicBezTo>
                    <a:pt x="7861" y="1724"/>
                    <a:pt x="12023" y="0"/>
                    <a:pt x="16362" y="0"/>
                  </a:cubicBezTo>
                  <a:close/>
                </a:path>
              </a:pathLst>
            </a:custGeom>
            <a:solidFill>
              <a:srgbClr val="FFFBF7"/>
            </a:solidFill>
            <a:ln w="9525" cap="sq">
              <a:solidFill>
                <a:srgbClr val="000000"/>
              </a:solidFill>
              <a:prstDash val="solid"/>
              <a:miter/>
            </a:ln>
          </p:spPr>
        </p:sp>
        <p:sp>
          <p:nvSpPr>
            <p:cNvPr id="11" name="TextBox 11"/>
            <p:cNvSpPr txBox="1"/>
            <p:nvPr/>
          </p:nvSpPr>
          <p:spPr>
            <a:xfrm>
              <a:off x="0" y="-38100"/>
              <a:ext cx="2213460" cy="7972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3235937" y="8740764"/>
            <a:ext cx="3022891" cy="3092471"/>
          </a:xfrm>
          <a:custGeom>
            <a:avLst/>
            <a:gdLst/>
            <a:ahLst/>
            <a:cxnLst/>
            <a:rect l="l" t="t" r="r" b="b"/>
            <a:pathLst>
              <a:path w="3022891" h="3092471">
                <a:moveTo>
                  <a:pt x="0" y="0"/>
                </a:moveTo>
                <a:lnTo>
                  <a:pt x="3022891" y="0"/>
                </a:lnTo>
                <a:lnTo>
                  <a:pt x="3022891" y="3092472"/>
                </a:lnTo>
                <a:lnTo>
                  <a:pt x="0" y="309247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3" name="TextBox 13"/>
          <p:cNvSpPr txBox="1"/>
          <p:nvPr/>
        </p:nvSpPr>
        <p:spPr>
          <a:xfrm>
            <a:off x="1661286" y="3409131"/>
            <a:ext cx="5760322" cy="2089151"/>
          </a:xfrm>
          <a:prstGeom prst="rect">
            <a:avLst/>
          </a:prstGeom>
        </p:spPr>
        <p:txBody>
          <a:bodyPr lIns="0" tIns="0" rIns="0" bIns="0" rtlCol="0" anchor="t">
            <a:spAutoFit/>
          </a:bodyPr>
          <a:lstStyle/>
          <a:p>
            <a:pPr marL="0" lvl="1" indent="0" algn="l">
              <a:lnSpc>
                <a:spcPts val="8000"/>
              </a:lnSpc>
            </a:pPr>
            <a:r>
              <a:rPr lang="en-US" sz="8000" spc="40">
                <a:solidFill>
                  <a:srgbClr val="FFFFFF"/>
                </a:solidFill>
                <a:latin typeface="Bobby Jones Soft"/>
                <a:ea typeface="Bobby Jones Soft"/>
                <a:cs typeface="Bobby Jones Soft"/>
                <a:sym typeface="Bobby Jones Soft"/>
              </a:rPr>
              <a:t>System Overview</a:t>
            </a:r>
          </a:p>
        </p:txBody>
      </p:sp>
      <p:sp>
        <p:nvSpPr>
          <p:cNvPr id="14" name="TextBox 14"/>
          <p:cNvSpPr txBox="1"/>
          <p:nvPr/>
        </p:nvSpPr>
        <p:spPr>
          <a:xfrm>
            <a:off x="10446098" y="7157270"/>
            <a:ext cx="1682388" cy="1304924"/>
          </a:xfrm>
          <a:prstGeom prst="rect">
            <a:avLst/>
          </a:prstGeom>
        </p:spPr>
        <p:txBody>
          <a:bodyPr lIns="0" tIns="0" rIns="0" bIns="0" rtlCol="0" anchor="t">
            <a:spAutoFit/>
          </a:bodyPr>
          <a:lstStyle/>
          <a:p>
            <a:pPr marL="0" lvl="0" indent="0" algn="l">
              <a:lnSpc>
                <a:spcPts val="9599"/>
              </a:lnSpc>
              <a:spcBef>
                <a:spcPct val="0"/>
              </a:spcBef>
            </a:pPr>
            <a:r>
              <a:rPr lang="en-US" sz="9999" u="none" strike="noStrike">
                <a:solidFill>
                  <a:srgbClr val="000000"/>
                </a:solidFill>
                <a:latin typeface="Bobby Jones Soft"/>
                <a:ea typeface="Bobby Jones Soft"/>
                <a:cs typeface="Bobby Jones Soft"/>
                <a:sym typeface="Bobby Jones Soft"/>
              </a:rPr>
              <a:t>03.</a:t>
            </a:r>
          </a:p>
        </p:txBody>
      </p:sp>
      <p:sp>
        <p:nvSpPr>
          <p:cNvPr id="15" name="TextBox 15"/>
          <p:cNvSpPr txBox="1"/>
          <p:nvPr/>
        </p:nvSpPr>
        <p:spPr>
          <a:xfrm>
            <a:off x="12312080" y="6873680"/>
            <a:ext cx="4569989" cy="2682812"/>
          </a:xfrm>
          <a:prstGeom prst="rect">
            <a:avLst/>
          </a:prstGeom>
        </p:spPr>
        <p:txBody>
          <a:bodyPr lIns="0" tIns="0" rIns="0" bIns="0" rtlCol="0" anchor="t">
            <a:spAutoFit/>
          </a:bodyPr>
          <a:lstStyle/>
          <a:p>
            <a:pPr algn="l">
              <a:lnSpc>
                <a:spcPts val="4726"/>
              </a:lnSpc>
              <a:spcBef>
                <a:spcPct val="0"/>
              </a:spcBef>
            </a:pPr>
            <a:r>
              <a:rPr lang="en-US" sz="2899" b="1">
                <a:solidFill>
                  <a:srgbClr val="000000"/>
                </a:solidFill>
                <a:latin typeface="Agrandir Medium"/>
                <a:ea typeface="Agrandir Medium"/>
                <a:cs typeface="Agrandir Medium"/>
                <a:sym typeface="Agrandir Medium"/>
              </a:rPr>
              <a:t>Da</a:t>
            </a:r>
            <a:r>
              <a:rPr lang="en-US" sz="2899" b="1" u="none" strike="noStrike">
                <a:solidFill>
                  <a:srgbClr val="000000"/>
                </a:solidFill>
                <a:latin typeface="Agrandir Medium"/>
                <a:ea typeface="Agrandir Medium"/>
                <a:cs typeface="Agrandir Medium"/>
                <a:sym typeface="Agrandir Medium"/>
              </a:rPr>
              <a:t>tabase Check: Matches plate with local vehicle info</a:t>
            </a:r>
          </a:p>
          <a:p>
            <a:pPr marL="0" lvl="0" indent="0" algn="l">
              <a:lnSpc>
                <a:spcPts val="2119"/>
              </a:lnSpc>
              <a:spcBef>
                <a:spcPct val="0"/>
              </a:spcBef>
            </a:pPr>
            <a:endParaRPr lang="en-US" sz="2899" b="1" u="none" strike="noStrike">
              <a:solidFill>
                <a:srgbClr val="000000"/>
              </a:solidFill>
              <a:latin typeface="Agrandir Medium"/>
              <a:ea typeface="Agrandir Medium"/>
              <a:cs typeface="Agrandir Medium"/>
              <a:sym typeface="Agrandir Medium"/>
            </a:endParaRPr>
          </a:p>
          <a:p>
            <a:pPr marL="0" lvl="0" indent="0" algn="l">
              <a:lnSpc>
                <a:spcPts val="4563"/>
              </a:lnSpc>
              <a:spcBef>
                <a:spcPct val="0"/>
              </a:spcBef>
            </a:pPr>
            <a:endParaRPr lang="en-US" sz="2899" b="1" u="none" strike="noStrike">
              <a:solidFill>
                <a:srgbClr val="000000"/>
              </a:solidFill>
              <a:latin typeface="Agrandir Medium"/>
              <a:ea typeface="Agrandir Medium"/>
              <a:cs typeface="Agrandir Medium"/>
              <a:sym typeface="Agrandir Medium"/>
            </a:endParaRPr>
          </a:p>
        </p:txBody>
      </p:sp>
      <p:sp>
        <p:nvSpPr>
          <p:cNvPr id="16" name="TextBox 16"/>
          <p:cNvSpPr txBox="1"/>
          <p:nvPr/>
        </p:nvSpPr>
        <p:spPr>
          <a:xfrm>
            <a:off x="10446098" y="4594526"/>
            <a:ext cx="1682388" cy="1304924"/>
          </a:xfrm>
          <a:prstGeom prst="rect">
            <a:avLst/>
          </a:prstGeom>
        </p:spPr>
        <p:txBody>
          <a:bodyPr lIns="0" tIns="0" rIns="0" bIns="0" rtlCol="0" anchor="t">
            <a:spAutoFit/>
          </a:bodyPr>
          <a:lstStyle/>
          <a:p>
            <a:pPr marL="0" lvl="0" indent="0" algn="l">
              <a:lnSpc>
                <a:spcPts val="9599"/>
              </a:lnSpc>
              <a:spcBef>
                <a:spcPct val="0"/>
              </a:spcBef>
            </a:pPr>
            <a:r>
              <a:rPr lang="en-US" sz="9999" u="none" strike="noStrike">
                <a:solidFill>
                  <a:srgbClr val="000000"/>
                </a:solidFill>
                <a:latin typeface="Bobby Jones Soft"/>
                <a:ea typeface="Bobby Jones Soft"/>
                <a:cs typeface="Bobby Jones Soft"/>
                <a:sym typeface="Bobby Jones Soft"/>
              </a:rPr>
              <a:t>02.</a:t>
            </a:r>
          </a:p>
        </p:txBody>
      </p:sp>
      <p:sp>
        <p:nvSpPr>
          <p:cNvPr id="17" name="TextBox 17"/>
          <p:cNvSpPr txBox="1"/>
          <p:nvPr/>
        </p:nvSpPr>
        <p:spPr>
          <a:xfrm>
            <a:off x="12312080" y="4358560"/>
            <a:ext cx="4280901" cy="1602994"/>
          </a:xfrm>
          <a:prstGeom prst="rect">
            <a:avLst/>
          </a:prstGeom>
        </p:spPr>
        <p:txBody>
          <a:bodyPr lIns="0" tIns="0" rIns="0" bIns="0" rtlCol="0" anchor="t">
            <a:spAutoFit/>
          </a:bodyPr>
          <a:lstStyle/>
          <a:p>
            <a:pPr marL="0" lvl="0" indent="0" algn="l">
              <a:lnSpc>
                <a:spcPts val="4087"/>
              </a:lnSpc>
            </a:pPr>
            <a:r>
              <a:rPr lang="en-US" sz="2799" b="1" spc="305">
                <a:solidFill>
                  <a:srgbClr val="000000"/>
                </a:solidFill>
                <a:latin typeface="Agrandir Medium"/>
                <a:ea typeface="Agrandir Medium"/>
                <a:cs typeface="Agrandir Medium"/>
                <a:sym typeface="Agrandir Medium"/>
              </a:rPr>
              <a:t>R</a:t>
            </a:r>
            <a:r>
              <a:rPr lang="en-US" sz="2799" b="1" u="none" strike="noStrike" spc="305">
                <a:solidFill>
                  <a:srgbClr val="000000"/>
                </a:solidFill>
                <a:latin typeface="Agrandir Medium"/>
                <a:ea typeface="Agrandir Medium"/>
                <a:cs typeface="Agrandir Medium"/>
                <a:sym typeface="Agrandir Medium"/>
              </a:rPr>
              <a:t>ecognition: Uses OCR to extract and format Arabic text</a:t>
            </a:r>
          </a:p>
        </p:txBody>
      </p:sp>
      <p:sp>
        <p:nvSpPr>
          <p:cNvPr id="18" name="TextBox 18"/>
          <p:cNvSpPr txBox="1"/>
          <p:nvPr/>
        </p:nvSpPr>
        <p:spPr>
          <a:xfrm>
            <a:off x="10446098" y="2034355"/>
            <a:ext cx="1682388" cy="1304924"/>
          </a:xfrm>
          <a:prstGeom prst="rect">
            <a:avLst/>
          </a:prstGeom>
        </p:spPr>
        <p:txBody>
          <a:bodyPr lIns="0" tIns="0" rIns="0" bIns="0" rtlCol="0" anchor="t">
            <a:spAutoFit/>
          </a:bodyPr>
          <a:lstStyle/>
          <a:p>
            <a:pPr marL="0" lvl="0" indent="0" algn="l">
              <a:lnSpc>
                <a:spcPts val="9599"/>
              </a:lnSpc>
              <a:spcBef>
                <a:spcPct val="0"/>
              </a:spcBef>
            </a:pPr>
            <a:r>
              <a:rPr lang="en-US" sz="9999" u="none" strike="noStrike">
                <a:solidFill>
                  <a:srgbClr val="000000"/>
                </a:solidFill>
                <a:latin typeface="Bobby Jones Soft"/>
                <a:ea typeface="Bobby Jones Soft"/>
                <a:cs typeface="Bobby Jones Soft"/>
                <a:sym typeface="Bobby Jones Soft"/>
              </a:rPr>
              <a:t>01.</a:t>
            </a:r>
          </a:p>
        </p:txBody>
      </p:sp>
      <p:sp>
        <p:nvSpPr>
          <p:cNvPr id="19" name="TextBox 19"/>
          <p:cNvSpPr txBox="1"/>
          <p:nvPr/>
        </p:nvSpPr>
        <p:spPr>
          <a:xfrm>
            <a:off x="12312080" y="1805436"/>
            <a:ext cx="4569989" cy="2338324"/>
          </a:xfrm>
          <a:prstGeom prst="rect">
            <a:avLst/>
          </a:prstGeom>
        </p:spPr>
        <p:txBody>
          <a:bodyPr lIns="0" tIns="0" rIns="0" bIns="0" rtlCol="0" anchor="t">
            <a:spAutoFit/>
          </a:bodyPr>
          <a:lstStyle/>
          <a:p>
            <a:pPr algn="l">
              <a:lnSpc>
                <a:spcPts val="3975"/>
              </a:lnSpc>
            </a:pPr>
            <a:r>
              <a:rPr lang="en-US" sz="2799" b="1" spc="305">
                <a:solidFill>
                  <a:srgbClr val="000000"/>
                </a:solidFill>
                <a:latin typeface="Agrandir Medium"/>
                <a:ea typeface="Agrandir Medium"/>
                <a:cs typeface="Agrandir Medium"/>
                <a:sym typeface="Agrandir Medium"/>
              </a:rPr>
              <a:t>D</a:t>
            </a:r>
            <a:r>
              <a:rPr lang="en-US" sz="2799" b="1" u="none" strike="noStrike" spc="305">
                <a:solidFill>
                  <a:srgbClr val="000000"/>
                </a:solidFill>
                <a:latin typeface="Agrandir Medium"/>
                <a:ea typeface="Agrandir Medium"/>
                <a:cs typeface="Agrandir Medium"/>
                <a:sym typeface="Agrandir Medium"/>
              </a:rPr>
              <a:t>etection: Identifies license plate in video stream</a:t>
            </a:r>
          </a:p>
          <a:p>
            <a:pPr algn="l">
              <a:lnSpc>
                <a:spcPts val="1846"/>
              </a:lnSpc>
            </a:pPr>
            <a:endParaRPr lang="en-US" sz="2799" b="1" u="none" strike="noStrike" spc="305">
              <a:solidFill>
                <a:srgbClr val="000000"/>
              </a:solidFill>
              <a:latin typeface="Agrandir Medium"/>
              <a:ea typeface="Agrandir Medium"/>
              <a:cs typeface="Agrandir Medium"/>
              <a:sym typeface="Agrandir Medium"/>
            </a:endParaRPr>
          </a:p>
          <a:p>
            <a:pPr marL="0" lvl="0" indent="0" algn="l">
              <a:lnSpc>
                <a:spcPts val="4259"/>
              </a:lnSpc>
            </a:pPr>
            <a:endParaRPr lang="en-US" sz="2799" b="1" u="none" strike="noStrike" spc="305">
              <a:solidFill>
                <a:srgbClr val="000000"/>
              </a:solidFill>
              <a:latin typeface="Agrandir Medium"/>
              <a:ea typeface="Agrandir Medium"/>
              <a:cs typeface="Agrandir Medium"/>
              <a:sym typeface="Agrandir Medium"/>
            </a:endParaRPr>
          </a:p>
        </p:txBody>
      </p:sp>
      <p:sp>
        <p:nvSpPr>
          <p:cNvPr id="20" name="Freeform 20"/>
          <p:cNvSpPr/>
          <p:nvPr/>
        </p:nvSpPr>
        <p:spPr>
          <a:xfrm>
            <a:off x="5196045" y="-2207879"/>
            <a:ext cx="3947955" cy="3572899"/>
          </a:xfrm>
          <a:custGeom>
            <a:avLst/>
            <a:gdLst/>
            <a:ahLst/>
            <a:cxnLst/>
            <a:rect l="l" t="t" r="r" b="b"/>
            <a:pathLst>
              <a:path w="3947955" h="3572899">
                <a:moveTo>
                  <a:pt x="0" y="0"/>
                </a:moveTo>
                <a:lnTo>
                  <a:pt x="3947955" y="0"/>
                </a:lnTo>
                <a:lnTo>
                  <a:pt x="3947955" y="3572899"/>
                </a:lnTo>
                <a:lnTo>
                  <a:pt x="0" y="357289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254186" y="4149996"/>
            <a:ext cx="2775909" cy="1149109"/>
            <a:chOff x="0" y="0"/>
            <a:chExt cx="8712963" cy="3606800"/>
          </a:xfrm>
        </p:grpSpPr>
        <p:sp>
          <p:nvSpPr>
            <p:cNvPr id="3" name="Freeform 3"/>
            <p:cNvSpPr/>
            <p:nvPr/>
          </p:nvSpPr>
          <p:spPr>
            <a:xfrm>
              <a:off x="0" y="0"/>
              <a:ext cx="8712963" cy="3606800"/>
            </a:xfrm>
            <a:custGeom>
              <a:avLst/>
              <a:gdLst/>
              <a:ahLst/>
              <a:cxnLst/>
              <a:rect l="l" t="t" r="r" b="b"/>
              <a:pathLst>
                <a:path w="8712963" h="3606800">
                  <a:moveTo>
                    <a:pt x="8712963" y="0"/>
                  </a:moveTo>
                  <a:lnTo>
                    <a:pt x="1041400" y="0"/>
                  </a:lnTo>
                  <a:lnTo>
                    <a:pt x="0" y="1803400"/>
                  </a:lnTo>
                  <a:lnTo>
                    <a:pt x="1041400" y="3606800"/>
                  </a:lnTo>
                  <a:lnTo>
                    <a:pt x="8712963" y="3606800"/>
                  </a:lnTo>
                  <a:lnTo>
                    <a:pt x="7671563" y="1803400"/>
                  </a:lnTo>
                  <a:close/>
                </a:path>
              </a:pathLst>
            </a:custGeom>
            <a:solidFill>
              <a:srgbClr val="FFFFFF"/>
            </a:solidFill>
          </p:spPr>
        </p:sp>
      </p:grpSp>
      <p:grpSp>
        <p:nvGrpSpPr>
          <p:cNvPr id="4" name="Group 4"/>
          <p:cNvGrpSpPr/>
          <p:nvPr/>
        </p:nvGrpSpPr>
        <p:grpSpPr>
          <a:xfrm rot="-10800000">
            <a:off x="3850888" y="4149996"/>
            <a:ext cx="2775909" cy="1149109"/>
            <a:chOff x="0" y="0"/>
            <a:chExt cx="8712963" cy="3606800"/>
          </a:xfrm>
        </p:grpSpPr>
        <p:sp>
          <p:nvSpPr>
            <p:cNvPr id="5" name="Freeform 5"/>
            <p:cNvSpPr/>
            <p:nvPr/>
          </p:nvSpPr>
          <p:spPr>
            <a:xfrm>
              <a:off x="0" y="0"/>
              <a:ext cx="8712963" cy="3606800"/>
            </a:xfrm>
            <a:custGeom>
              <a:avLst/>
              <a:gdLst/>
              <a:ahLst/>
              <a:cxnLst/>
              <a:rect l="l" t="t" r="r" b="b"/>
              <a:pathLst>
                <a:path w="8712963" h="3606800">
                  <a:moveTo>
                    <a:pt x="8712963" y="0"/>
                  </a:moveTo>
                  <a:lnTo>
                    <a:pt x="1041400" y="0"/>
                  </a:lnTo>
                  <a:lnTo>
                    <a:pt x="0" y="1803400"/>
                  </a:lnTo>
                  <a:lnTo>
                    <a:pt x="1041400" y="3606800"/>
                  </a:lnTo>
                  <a:lnTo>
                    <a:pt x="8712963" y="3606800"/>
                  </a:lnTo>
                  <a:lnTo>
                    <a:pt x="7671563" y="1803400"/>
                  </a:lnTo>
                  <a:close/>
                </a:path>
              </a:pathLst>
            </a:custGeom>
            <a:solidFill>
              <a:srgbClr val="FFFFFF"/>
            </a:solidFill>
          </p:spPr>
        </p:sp>
      </p:grpSp>
      <p:grpSp>
        <p:nvGrpSpPr>
          <p:cNvPr id="6" name="Group 6"/>
          <p:cNvGrpSpPr/>
          <p:nvPr/>
        </p:nvGrpSpPr>
        <p:grpSpPr>
          <a:xfrm rot="-10800000">
            <a:off x="6455768" y="4149996"/>
            <a:ext cx="2775909" cy="1149109"/>
            <a:chOff x="0" y="0"/>
            <a:chExt cx="8712963" cy="3606800"/>
          </a:xfrm>
        </p:grpSpPr>
        <p:sp>
          <p:nvSpPr>
            <p:cNvPr id="7" name="Freeform 7"/>
            <p:cNvSpPr/>
            <p:nvPr/>
          </p:nvSpPr>
          <p:spPr>
            <a:xfrm>
              <a:off x="0" y="0"/>
              <a:ext cx="8712963" cy="3606800"/>
            </a:xfrm>
            <a:custGeom>
              <a:avLst/>
              <a:gdLst/>
              <a:ahLst/>
              <a:cxnLst/>
              <a:rect l="l" t="t" r="r" b="b"/>
              <a:pathLst>
                <a:path w="8712963" h="3606800">
                  <a:moveTo>
                    <a:pt x="8712963" y="0"/>
                  </a:moveTo>
                  <a:lnTo>
                    <a:pt x="1041400" y="0"/>
                  </a:lnTo>
                  <a:lnTo>
                    <a:pt x="0" y="1803400"/>
                  </a:lnTo>
                  <a:lnTo>
                    <a:pt x="1041400" y="3606800"/>
                  </a:lnTo>
                  <a:lnTo>
                    <a:pt x="8712963" y="3606800"/>
                  </a:lnTo>
                  <a:lnTo>
                    <a:pt x="7671563" y="1803400"/>
                  </a:lnTo>
                  <a:close/>
                </a:path>
              </a:pathLst>
            </a:custGeom>
            <a:solidFill>
              <a:srgbClr val="FFFFFF"/>
            </a:solidFill>
          </p:spPr>
        </p:sp>
      </p:grpSp>
      <p:grpSp>
        <p:nvGrpSpPr>
          <p:cNvPr id="8" name="Group 8"/>
          <p:cNvGrpSpPr/>
          <p:nvPr/>
        </p:nvGrpSpPr>
        <p:grpSpPr>
          <a:xfrm rot="-10800000">
            <a:off x="9052469" y="4149996"/>
            <a:ext cx="2775909" cy="1149109"/>
            <a:chOff x="0" y="0"/>
            <a:chExt cx="8712963" cy="3606800"/>
          </a:xfrm>
        </p:grpSpPr>
        <p:sp>
          <p:nvSpPr>
            <p:cNvPr id="9" name="Freeform 9"/>
            <p:cNvSpPr/>
            <p:nvPr/>
          </p:nvSpPr>
          <p:spPr>
            <a:xfrm>
              <a:off x="0" y="0"/>
              <a:ext cx="8712963" cy="3606800"/>
            </a:xfrm>
            <a:custGeom>
              <a:avLst/>
              <a:gdLst/>
              <a:ahLst/>
              <a:cxnLst/>
              <a:rect l="l" t="t" r="r" b="b"/>
              <a:pathLst>
                <a:path w="8712963" h="3606800">
                  <a:moveTo>
                    <a:pt x="8712963" y="0"/>
                  </a:moveTo>
                  <a:lnTo>
                    <a:pt x="1041400" y="0"/>
                  </a:lnTo>
                  <a:lnTo>
                    <a:pt x="0" y="1803400"/>
                  </a:lnTo>
                  <a:lnTo>
                    <a:pt x="1041400" y="3606800"/>
                  </a:lnTo>
                  <a:lnTo>
                    <a:pt x="8712963" y="3606800"/>
                  </a:lnTo>
                  <a:lnTo>
                    <a:pt x="7671563" y="1803400"/>
                  </a:lnTo>
                  <a:close/>
                </a:path>
              </a:pathLst>
            </a:custGeom>
            <a:solidFill>
              <a:srgbClr val="FFFFFF"/>
            </a:solidFill>
          </p:spPr>
        </p:sp>
      </p:grpSp>
      <p:grpSp>
        <p:nvGrpSpPr>
          <p:cNvPr id="10" name="Group 10"/>
          <p:cNvGrpSpPr/>
          <p:nvPr/>
        </p:nvGrpSpPr>
        <p:grpSpPr>
          <a:xfrm rot="-10800000">
            <a:off x="11657455" y="4149996"/>
            <a:ext cx="2775909" cy="1149109"/>
            <a:chOff x="0" y="0"/>
            <a:chExt cx="8712963" cy="3606800"/>
          </a:xfrm>
        </p:grpSpPr>
        <p:sp>
          <p:nvSpPr>
            <p:cNvPr id="11" name="Freeform 11"/>
            <p:cNvSpPr/>
            <p:nvPr/>
          </p:nvSpPr>
          <p:spPr>
            <a:xfrm>
              <a:off x="0" y="0"/>
              <a:ext cx="8712963" cy="3606800"/>
            </a:xfrm>
            <a:custGeom>
              <a:avLst/>
              <a:gdLst/>
              <a:ahLst/>
              <a:cxnLst/>
              <a:rect l="l" t="t" r="r" b="b"/>
              <a:pathLst>
                <a:path w="8712963" h="3606800">
                  <a:moveTo>
                    <a:pt x="8712963" y="0"/>
                  </a:moveTo>
                  <a:lnTo>
                    <a:pt x="1041400" y="0"/>
                  </a:lnTo>
                  <a:lnTo>
                    <a:pt x="0" y="1803400"/>
                  </a:lnTo>
                  <a:lnTo>
                    <a:pt x="1041400" y="3606800"/>
                  </a:lnTo>
                  <a:lnTo>
                    <a:pt x="8712963" y="3606800"/>
                  </a:lnTo>
                  <a:lnTo>
                    <a:pt x="7671563" y="1803400"/>
                  </a:lnTo>
                  <a:close/>
                </a:path>
              </a:pathLst>
            </a:custGeom>
            <a:solidFill>
              <a:srgbClr val="FDFDFD"/>
            </a:solidFill>
          </p:spPr>
        </p:sp>
      </p:grpSp>
      <p:grpSp>
        <p:nvGrpSpPr>
          <p:cNvPr id="12" name="Group 12"/>
          <p:cNvGrpSpPr/>
          <p:nvPr/>
        </p:nvGrpSpPr>
        <p:grpSpPr>
          <a:xfrm rot="-10800000">
            <a:off x="14257905" y="4149996"/>
            <a:ext cx="2775909" cy="1149109"/>
            <a:chOff x="0" y="0"/>
            <a:chExt cx="8712963" cy="3606800"/>
          </a:xfrm>
        </p:grpSpPr>
        <p:sp>
          <p:nvSpPr>
            <p:cNvPr id="13" name="Freeform 13"/>
            <p:cNvSpPr/>
            <p:nvPr/>
          </p:nvSpPr>
          <p:spPr>
            <a:xfrm>
              <a:off x="0" y="0"/>
              <a:ext cx="8712963" cy="3606800"/>
            </a:xfrm>
            <a:custGeom>
              <a:avLst/>
              <a:gdLst/>
              <a:ahLst/>
              <a:cxnLst/>
              <a:rect l="l" t="t" r="r" b="b"/>
              <a:pathLst>
                <a:path w="8712963" h="3606800">
                  <a:moveTo>
                    <a:pt x="8712963" y="0"/>
                  </a:moveTo>
                  <a:lnTo>
                    <a:pt x="1041400" y="0"/>
                  </a:lnTo>
                  <a:lnTo>
                    <a:pt x="0" y="1803400"/>
                  </a:lnTo>
                  <a:lnTo>
                    <a:pt x="1041400" y="3606800"/>
                  </a:lnTo>
                  <a:lnTo>
                    <a:pt x="8712963" y="3606800"/>
                  </a:lnTo>
                  <a:lnTo>
                    <a:pt x="7671563" y="1803400"/>
                  </a:lnTo>
                  <a:close/>
                </a:path>
              </a:pathLst>
            </a:custGeom>
            <a:solidFill>
              <a:srgbClr val="FFFFFF"/>
            </a:solidFill>
          </p:spPr>
        </p:sp>
      </p:grpSp>
      <p:sp>
        <p:nvSpPr>
          <p:cNvPr id="14" name="AutoShape 14"/>
          <p:cNvSpPr/>
          <p:nvPr/>
        </p:nvSpPr>
        <p:spPr>
          <a:xfrm>
            <a:off x="2607388" y="5299106"/>
            <a:ext cx="0" cy="1089539"/>
          </a:xfrm>
          <a:prstGeom prst="line">
            <a:avLst/>
          </a:prstGeom>
          <a:ln w="57150" cap="flat">
            <a:solidFill>
              <a:srgbClr val="FDFDFD"/>
            </a:solidFill>
            <a:prstDash val="solid"/>
            <a:headEnd type="none" w="sm" len="sm"/>
            <a:tailEnd type="none" w="sm" len="sm"/>
          </a:ln>
        </p:spPr>
      </p:sp>
      <p:sp>
        <p:nvSpPr>
          <p:cNvPr id="15" name="AutoShape 15"/>
          <p:cNvSpPr/>
          <p:nvPr/>
        </p:nvSpPr>
        <p:spPr>
          <a:xfrm>
            <a:off x="5204089" y="5299106"/>
            <a:ext cx="0" cy="1089539"/>
          </a:xfrm>
          <a:prstGeom prst="line">
            <a:avLst/>
          </a:prstGeom>
          <a:ln w="57150" cap="flat">
            <a:solidFill>
              <a:srgbClr val="FDFDFD"/>
            </a:solidFill>
            <a:prstDash val="solid"/>
            <a:headEnd type="none" w="sm" len="sm"/>
            <a:tailEnd type="none" w="sm" len="sm"/>
          </a:ln>
        </p:spPr>
      </p:sp>
      <p:sp>
        <p:nvSpPr>
          <p:cNvPr id="16" name="AutoShape 16"/>
          <p:cNvSpPr/>
          <p:nvPr/>
        </p:nvSpPr>
        <p:spPr>
          <a:xfrm>
            <a:off x="7843723" y="5299106"/>
            <a:ext cx="0" cy="1089539"/>
          </a:xfrm>
          <a:prstGeom prst="line">
            <a:avLst/>
          </a:prstGeom>
          <a:ln w="57150" cap="flat">
            <a:solidFill>
              <a:srgbClr val="FFFFFF"/>
            </a:solidFill>
            <a:prstDash val="solid"/>
            <a:headEnd type="none" w="sm" len="sm"/>
            <a:tailEnd type="none" w="sm" len="sm"/>
          </a:ln>
        </p:spPr>
      </p:sp>
      <p:sp>
        <p:nvSpPr>
          <p:cNvPr id="17" name="AutoShape 17"/>
          <p:cNvSpPr/>
          <p:nvPr/>
        </p:nvSpPr>
        <p:spPr>
          <a:xfrm>
            <a:off x="10432828" y="5299106"/>
            <a:ext cx="0" cy="1089539"/>
          </a:xfrm>
          <a:prstGeom prst="line">
            <a:avLst/>
          </a:prstGeom>
          <a:ln w="57150" cap="flat">
            <a:solidFill>
              <a:srgbClr val="FFFFFF"/>
            </a:solidFill>
            <a:prstDash val="solid"/>
            <a:headEnd type="none" w="sm" len="sm"/>
            <a:tailEnd type="none" w="sm" len="sm"/>
          </a:ln>
        </p:spPr>
      </p:sp>
      <p:sp>
        <p:nvSpPr>
          <p:cNvPr id="18" name="AutoShape 18"/>
          <p:cNvSpPr/>
          <p:nvPr/>
        </p:nvSpPr>
        <p:spPr>
          <a:xfrm>
            <a:off x="13029529" y="5299106"/>
            <a:ext cx="0" cy="1089539"/>
          </a:xfrm>
          <a:prstGeom prst="line">
            <a:avLst/>
          </a:prstGeom>
          <a:ln w="57150" cap="flat">
            <a:solidFill>
              <a:srgbClr val="FFFFFF"/>
            </a:solidFill>
            <a:prstDash val="solid"/>
            <a:headEnd type="none" w="sm" len="sm"/>
            <a:tailEnd type="none" w="sm" len="sm"/>
          </a:ln>
        </p:spPr>
      </p:sp>
      <p:sp>
        <p:nvSpPr>
          <p:cNvPr id="19" name="AutoShape 19"/>
          <p:cNvSpPr/>
          <p:nvPr/>
        </p:nvSpPr>
        <p:spPr>
          <a:xfrm>
            <a:off x="15669162" y="5299106"/>
            <a:ext cx="0" cy="1089539"/>
          </a:xfrm>
          <a:prstGeom prst="line">
            <a:avLst/>
          </a:prstGeom>
          <a:ln w="57150" cap="flat">
            <a:solidFill>
              <a:srgbClr val="FFFFFF"/>
            </a:solidFill>
            <a:prstDash val="solid"/>
            <a:headEnd type="none" w="sm" len="sm"/>
            <a:tailEnd type="none" w="sm" len="sm"/>
          </a:ln>
        </p:spPr>
      </p:sp>
      <p:sp>
        <p:nvSpPr>
          <p:cNvPr id="20" name="TextBox 20"/>
          <p:cNvSpPr txBox="1"/>
          <p:nvPr/>
        </p:nvSpPr>
        <p:spPr>
          <a:xfrm>
            <a:off x="1715295" y="4508803"/>
            <a:ext cx="1853692" cy="431497"/>
          </a:xfrm>
          <a:prstGeom prst="rect">
            <a:avLst/>
          </a:prstGeom>
        </p:spPr>
        <p:txBody>
          <a:bodyPr lIns="0" tIns="0" rIns="0" bIns="0" rtlCol="0" anchor="t">
            <a:spAutoFit/>
          </a:bodyPr>
          <a:lstStyle/>
          <a:p>
            <a:pPr algn="ctr">
              <a:lnSpc>
                <a:spcPts val="3494"/>
              </a:lnSpc>
            </a:pPr>
            <a:r>
              <a:rPr lang="en-US" sz="2912" b="1">
                <a:solidFill>
                  <a:srgbClr val="000000"/>
                </a:solidFill>
                <a:latin typeface="Be Vietnam Ultra-Bold"/>
                <a:ea typeface="Be Vietnam Ultra-Bold"/>
                <a:cs typeface="Be Vietnam Ultra-Bold"/>
                <a:sym typeface="Be Vietnam Ultra-Bold"/>
              </a:rPr>
              <a:t>1</a:t>
            </a:r>
          </a:p>
        </p:txBody>
      </p:sp>
      <p:sp>
        <p:nvSpPr>
          <p:cNvPr id="21" name="TextBox 21"/>
          <p:cNvSpPr txBox="1"/>
          <p:nvPr/>
        </p:nvSpPr>
        <p:spPr>
          <a:xfrm>
            <a:off x="4311996" y="4508803"/>
            <a:ext cx="1853692" cy="431497"/>
          </a:xfrm>
          <a:prstGeom prst="rect">
            <a:avLst/>
          </a:prstGeom>
        </p:spPr>
        <p:txBody>
          <a:bodyPr lIns="0" tIns="0" rIns="0" bIns="0" rtlCol="0" anchor="t">
            <a:spAutoFit/>
          </a:bodyPr>
          <a:lstStyle/>
          <a:p>
            <a:pPr algn="ctr">
              <a:lnSpc>
                <a:spcPts val="3494"/>
              </a:lnSpc>
            </a:pPr>
            <a:r>
              <a:rPr lang="en-US" sz="2912" b="1">
                <a:solidFill>
                  <a:srgbClr val="000000"/>
                </a:solidFill>
                <a:latin typeface="Be Vietnam Ultra-Bold"/>
                <a:ea typeface="Be Vietnam Ultra-Bold"/>
                <a:cs typeface="Be Vietnam Ultra-Bold"/>
                <a:sym typeface="Be Vietnam Ultra-Bold"/>
              </a:rPr>
              <a:t>2</a:t>
            </a:r>
          </a:p>
        </p:txBody>
      </p:sp>
      <p:sp>
        <p:nvSpPr>
          <p:cNvPr id="22" name="TextBox 22"/>
          <p:cNvSpPr txBox="1"/>
          <p:nvPr/>
        </p:nvSpPr>
        <p:spPr>
          <a:xfrm>
            <a:off x="6916877" y="4508803"/>
            <a:ext cx="1853692" cy="431497"/>
          </a:xfrm>
          <a:prstGeom prst="rect">
            <a:avLst/>
          </a:prstGeom>
        </p:spPr>
        <p:txBody>
          <a:bodyPr lIns="0" tIns="0" rIns="0" bIns="0" rtlCol="0" anchor="t">
            <a:spAutoFit/>
          </a:bodyPr>
          <a:lstStyle/>
          <a:p>
            <a:pPr algn="ctr">
              <a:lnSpc>
                <a:spcPts val="3494"/>
              </a:lnSpc>
            </a:pPr>
            <a:r>
              <a:rPr lang="en-US" sz="2912" b="1">
                <a:solidFill>
                  <a:srgbClr val="000000"/>
                </a:solidFill>
                <a:latin typeface="Be Vietnam Ultra-Bold"/>
                <a:ea typeface="Be Vietnam Ultra-Bold"/>
                <a:cs typeface="Be Vietnam Ultra-Bold"/>
                <a:sym typeface="Be Vietnam Ultra-Bold"/>
              </a:rPr>
              <a:t>3</a:t>
            </a:r>
          </a:p>
        </p:txBody>
      </p:sp>
      <p:sp>
        <p:nvSpPr>
          <p:cNvPr id="23" name="TextBox 23"/>
          <p:cNvSpPr txBox="1"/>
          <p:nvPr/>
        </p:nvSpPr>
        <p:spPr>
          <a:xfrm>
            <a:off x="9513578" y="4508803"/>
            <a:ext cx="1853692" cy="431497"/>
          </a:xfrm>
          <a:prstGeom prst="rect">
            <a:avLst/>
          </a:prstGeom>
        </p:spPr>
        <p:txBody>
          <a:bodyPr lIns="0" tIns="0" rIns="0" bIns="0" rtlCol="0" anchor="t">
            <a:spAutoFit/>
          </a:bodyPr>
          <a:lstStyle/>
          <a:p>
            <a:pPr algn="ctr">
              <a:lnSpc>
                <a:spcPts val="3494"/>
              </a:lnSpc>
            </a:pPr>
            <a:r>
              <a:rPr lang="en-US" sz="2912" b="1">
                <a:solidFill>
                  <a:srgbClr val="000000"/>
                </a:solidFill>
                <a:latin typeface="Be Vietnam Ultra-Bold"/>
                <a:ea typeface="Be Vietnam Ultra-Bold"/>
                <a:cs typeface="Be Vietnam Ultra-Bold"/>
                <a:sym typeface="Be Vietnam Ultra-Bold"/>
              </a:rPr>
              <a:t>4</a:t>
            </a:r>
          </a:p>
        </p:txBody>
      </p:sp>
      <p:sp>
        <p:nvSpPr>
          <p:cNvPr id="24" name="TextBox 24"/>
          <p:cNvSpPr txBox="1"/>
          <p:nvPr/>
        </p:nvSpPr>
        <p:spPr>
          <a:xfrm>
            <a:off x="12118563" y="4508803"/>
            <a:ext cx="1853692" cy="431497"/>
          </a:xfrm>
          <a:prstGeom prst="rect">
            <a:avLst/>
          </a:prstGeom>
        </p:spPr>
        <p:txBody>
          <a:bodyPr lIns="0" tIns="0" rIns="0" bIns="0" rtlCol="0" anchor="t">
            <a:spAutoFit/>
          </a:bodyPr>
          <a:lstStyle/>
          <a:p>
            <a:pPr algn="ctr">
              <a:lnSpc>
                <a:spcPts val="3494"/>
              </a:lnSpc>
            </a:pPr>
            <a:r>
              <a:rPr lang="en-US" sz="2912" b="1">
                <a:solidFill>
                  <a:srgbClr val="000000"/>
                </a:solidFill>
                <a:latin typeface="Be Vietnam Ultra-Bold"/>
                <a:ea typeface="Be Vietnam Ultra-Bold"/>
                <a:cs typeface="Be Vietnam Ultra-Bold"/>
                <a:sym typeface="Be Vietnam Ultra-Bold"/>
              </a:rPr>
              <a:t>5</a:t>
            </a:r>
          </a:p>
        </p:txBody>
      </p:sp>
      <p:sp>
        <p:nvSpPr>
          <p:cNvPr id="25" name="TextBox 25"/>
          <p:cNvSpPr txBox="1"/>
          <p:nvPr/>
        </p:nvSpPr>
        <p:spPr>
          <a:xfrm>
            <a:off x="14719013" y="4508803"/>
            <a:ext cx="1853692" cy="431497"/>
          </a:xfrm>
          <a:prstGeom prst="rect">
            <a:avLst/>
          </a:prstGeom>
        </p:spPr>
        <p:txBody>
          <a:bodyPr lIns="0" tIns="0" rIns="0" bIns="0" rtlCol="0" anchor="t">
            <a:spAutoFit/>
          </a:bodyPr>
          <a:lstStyle/>
          <a:p>
            <a:pPr algn="ctr">
              <a:lnSpc>
                <a:spcPts val="3494"/>
              </a:lnSpc>
            </a:pPr>
            <a:r>
              <a:rPr lang="en-US" sz="2912" b="1">
                <a:solidFill>
                  <a:srgbClr val="000000"/>
                </a:solidFill>
                <a:latin typeface="Be Vietnam Ultra-Bold"/>
                <a:ea typeface="Be Vietnam Ultra-Bold"/>
                <a:cs typeface="Be Vietnam Ultra-Bold"/>
                <a:sym typeface="Be Vietnam Ultra-Bold"/>
              </a:rPr>
              <a:t>6</a:t>
            </a:r>
          </a:p>
        </p:txBody>
      </p:sp>
      <p:sp>
        <p:nvSpPr>
          <p:cNvPr id="26" name="TextBox 26"/>
          <p:cNvSpPr txBox="1"/>
          <p:nvPr/>
        </p:nvSpPr>
        <p:spPr>
          <a:xfrm>
            <a:off x="1458811" y="6662705"/>
            <a:ext cx="2297154" cy="339033"/>
          </a:xfrm>
          <a:prstGeom prst="rect">
            <a:avLst/>
          </a:prstGeom>
        </p:spPr>
        <p:txBody>
          <a:bodyPr lIns="0" tIns="0" rIns="0" bIns="0" rtlCol="0" anchor="t">
            <a:spAutoFit/>
          </a:bodyPr>
          <a:lstStyle/>
          <a:p>
            <a:pPr algn="ctr">
              <a:lnSpc>
                <a:spcPts val="2718"/>
              </a:lnSpc>
              <a:spcBef>
                <a:spcPct val="0"/>
              </a:spcBef>
            </a:pPr>
            <a:r>
              <a:rPr lang="en-US" sz="2265" b="1">
                <a:solidFill>
                  <a:srgbClr val="FFFFFF"/>
                </a:solidFill>
                <a:latin typeface="Be Vietnam Ultra-Bold"/>
                <a:ea typeface="Be Vietnam Ultra-Bold"/>
                <a:cs typeface="Be Vietnam Ultra-Bold"/>
                <a:sym typeface="Be Vietnam Ultra-Bold"/>
              </a:rPr>
              <a:t>VIDEO CAPTURE</a:t>
            </a:r>
          </a:p>
        </p:txBody>
      </p:sp>
      <p:sp>
        <p:nvSpPr>
          <p:cNvPr id="27" name="TextBox 27"/>
          <p:cNvSpPr txBox="1"/>
          <p:nvPr/>
        </p:nvSpPr>
        <p:spPr>
          <a:xfrm>
            <a:off x="4055512" y="6681215"/>
            <a:ext cx="2297154" cy="678066"/>
          </a:xfrm>
          <a:prstGeom prst="rect">
            <a:avLst/>
          </a:prstGeom>
        </p:spPr>
        <p:txBody>
          <a:bodyPr lIns="0" tIns="0" rIns="0" bIns="0" rtlCol="0" anchor="t">
            <a:spAutoFit/>
          </a:bodyPr>
          <a:lstStyle/>
          <a:p>
            <a:pPr algn="ctr">
              <a:lnSpc>
                <a:spcPts val="2718"/>
              </a:lnSpc>
              <a:spcBef>
                <a:spcPct val="0"/>
              </a:spcBef>
            </a:pPr>
            <a:r>
              <a:rPr lang="en-US" sz="2265" b="1">
                <a:solidFill>
                  <a:srgbClr val="FFFFFF"/>
                </a:solidFill>
                <a:latin typeface="Be Vietnam Ultra-Bold"/>
                <a:ea typeface="Be Vietnam Ultra-Bold"/>
                <a:cs typeface="Be Vietnam Ultra-Bold"/>
                <a:sym typeface="Be Vietnam Ultra-Bold"/>
              </a:rPr>
              <a:t>LICENSE PLATE DETECTION</a:t>
            </a:r>
          </a:p>
        </p:txBody>
      </p:sp>
      <p:sp>
        <p:nvSpPr>
          <p:cNvPr id="28" name="TextBox 28"/>
          <p:cNvSpPr txBox="1"/>
          <p:nvPr/>
        </p:nvSpPr>
        <p:spPr>
          <a:xfrm>
            <a:off x="6517120" y="6681215"/>
            <a:ext cx="2535349" cy="339033"/>
          </a:xfrm>
          <a:prstGeom prst="rect">
            <a:avLst/>
          </a:prstGeom>
        </p:spPr>
        <p:txBody>
          <a:bodyPr lIns="0" tIns="0" rIns="0" bIns="0" rtlCol="0" anchor="t">
            <a:spAutoFit/>
          </a:bodyPr>
          <a:lstStyle/>
          <a:p>
            <a:pPr algn="ctr">
              <a:lnSpc>
                <a:spcPts val="2718"/>
              </a:lnSpc>
              <a:spcBef>
                <a:spcPct val="0"/>
              </a:spcBef>
            </a:pPr>
            <a:r>
              <a:rPr lang="en-US" sz="2265" b="1">
                <a:solidFill>
                  <a:srgbClr val="FFFFFF"/>
                </a:solidFill>
                <a:latin typeface="Be Vietnam Ultra-Bold"/>
                <a:ea typeface="Be Vietnam Ultra-Bold"/>
                <a:cs typeface="Be Vietnam Ultra-Bold"/>
                <a:sym typeface="Be Vietnam Ultra-Bold"/>
              </a:rPr>
              <a:t>PLATE CROPPING</a:t>
            </a:r>
          </a:p>
        </p:txBody>
      </p:sp>
      <p:sp>
        <p:nvSpPr>
          <p:cNvPr id="29" name="TextBox 29"/>
          <p:cNvSpPr txBox="1"/>
          <p:nvPr/>
        </p:nvSpPr>
        <p:spPr>
          <a:xfrm>
            <a:off x="9360301" y="6662705"/>
            <a:ext cx="2297154" cy="678066"/>
          </a:xfrm>
          <a:prstGeom prst="rect">
            <a:avLst/>
          </a:prstGeom>
        </p:spPr>
        <p:txBody>
          <a:bodyPr lIns="0" tIns="0" rIns="0" bIns="0" rtlCol="0" anchor="t">
            <a:spAutoFit/>
          </a:bodyPr>
          <a:lstStyle/>
          <a:p>
            <a:pPr algn="ctr">
              <a:lnSpc>
                <a:spcPts val="2718"/>
              </a:lnSpc>
              <a:spcBef>
                <a:spcPct val="0"/>
              </a:spcBef>
            </a:pPr>
            <a:r>
              <a:rPr lang="en-US" sz="2265" b="1">
                <a:solidFill>
                  <a:srgbClr val="FFFFFF"/>
                </a:solidFill>
                <a:latin typeface="Be Vietnam Ultra-Bold"/>
                <a:ea typeface="Be Vietnam Ultra-Bold"/>
                <a:cs typeface="Be Vietnam Ultra-Bold"/>
                <a:sym typeface="Be Vietnam Ultra-Bold"/>
              </a:rPr>
              <a:t>CHARACTER RECOGNITION</a:t>
            </a:r>
          </a:p>
        </p:txBody>
      </p:sp>
      <p:sp>
        <p:nvSpPr>
          <p:cNvPr id="30" name="TextBox 30"/>
          <p:cNvSpPr txBox="1"/>
          <p:nvPr/>
        </p:nvSpPr>
        <p:spPr>
          <a:xfrm>
            <a:off x="11896833" y="6681215"/>
            <a:ext cx="2297154" cy="678066"/>
          </a:xfrm>
          <a:prstGeom prst="rect">
            <a:avLst/>
          </a:prstGeom>
        </p:spPr>
        <p:txBody>
          <a:bodyPr lIns="0" tIns="0" rIns="0" bIns="0" rtlCol="0" anchor="t">
            <a:spAutoFit/>
          </a:bodyPr>
          <a:lstStyle/>
          <a:p>
            <a:pPr algn="ctr">
              <a:lnSpc>
                <a:spcPts val="2718"/>
              </a:lnSpc>
              <a:spcBef>
                <a:spcPct val="0"/>
              </a:spcBef>
            </a:pPr>
            <a:r>
              <a:rPr lang="en-US" sz="2265" b="1">
                <a:solidFill>
                  <a:srgbClr val="FFFFFF"/>
                </a:solidFill>
                <a:latin typeface="Be Vietnam Ultra-Bold"/>
                <a:ea typeface="Be Vietnam Ultra-Bold"/>
                <a:cs typeface="Be Vietnam Ultra-Bold"/>
                <a:sym typeface="Be Vietnam Ultra-Bold"/>
              </a:rPr>
              <a:t>DATABASE LOOKUP</a:t>
            </a:r>
          </a:p>
        </p:txBody>
      </p:sp>
      <p:sp>
        <p:nvSpPr>
          <p:cNvPr id="31" name="TextBox 31"/>
          <p:cNvSpPr txBox="1"/>
          <p:nvPr/>
        </p:nvSpPr>
        <p:spPr>
          <a:xfrm>
            <a:off x="14520586" y="6681215"/>
            <a:ext cx="2297154" cy="678066"/>
          </a:xfrm>
          <a:prstGeom prst="rect">
            <a:avLst/>
          </a:prstGeom>
        </p:spPr>
        <p:txBody>
          <a:bodyPr lIns="0" tIns="0" rIns="0" bIns="0" rtlCol="0" anchor="t">
            <a:spAutoFit/>
          </a:bodyPr>
          <a:lstStyle/>
          <a:p>
            <a:pPr algn="ctr">
              <a:lnSpc>
                <a:spcPts val="2718"/>
              </a:lnSpc>
              <a:spcBef>
                <a:spcPct val="0"/>
              </a:spcBef>
            </a:pPr>
            <a:r>
              <a:rPr lang="en-US" sz="2265" b="1">
                <a:solidFill>
                  <a:srgbClr val="FFFFFF"/>
                </a:solidFill>
                <a:latin typeface="Be Vietnam Ultra-Bold"/>
                <a:ea typeface="Be Vietnam Ultra-Bold"/>
                <a:cs typeface="Be Vietnam Ultra-Bold"/>
                <a:sym typeface="Be Vietnam Ultra-Bold"/>
              </a:rPr>
              <a:t>DISPLAY RESULTS</a:t>
            </a:r>
          </a:p>
        </p:txBody>
      </p:sp>
      <p:sp>
        <p:nvSpPr>
          <p:cNvPr id="32" name="TextBox 32"/>
          <p:cNvSpPr txBox="1"/>
          <p:nvPr/>
        </p:nvSpPr>
        <p:spPr>
          <a:xfrm>
            <a:off x="1689272" y="1230902"/>
            <a:ext cx="14324354" cy="1309360"/>
          </a:xfrm>
          <a:prstGeom prst="rect">
            <a:avLst/>
          </a:prstGeom>
        </p:spPr>
        <p:txBody>
          <a:bodyPr lIns="0" tIns="0" rIns="0" bIns="0" rtlCol="0" anchor="t">
            <a:spAutoFit/>
          </a:bodyPr>
          <a:lstStyle/>
          <a:p>
            <a:pPr algn="ctr">
              <a:lnSpc>
                <a:spcPts val="10780"/>
              </a:lnSpc>
            </a:pPr>
            <a:r>
              <a:rPr lang="en-US" sz="7700" b="1">
                <a:solidFill>
                  <a:srgbClr val="FFFFFF"/>
                </a:solidFill>
                <a:latin typeface="Canva Sans Bold"/>
                <a:ea typeface="Canva Sans Bold"/>
                <a:cs typeface="Canva Sans Bold"/>
                <a:sym typeface="Canva Sans Bold"/>
              </a:rPr>
              <a:t>Implementation workflow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1028700" y="9153525"/>
            <a:ext cx="16186054" cy="0"/>
          </a:xfrm>
          <a:prstGeom prst="line">
            <a:avLst/>
          </a:prstGeom>
          <a:ln w="28575" cap="flat">
            <a:solidFill>
              <a:srgbClr val="FFFFFF"/>
            </a:solidFill>
            <a:prstDash val="solid"/>
            <a:headEnd type="none" w="sm" len="sm"/>
            <a:tailEnd type="none" w="sm" len="sm"/>
          </a:ln>
        </p:spPr>
      </p:sp>
      <p:sp>
        <p:nvSpPr>
          <p:cNvPr id="3" name="Freeform 3"/>
          <p:cNvSpPr/>
          <p:nvPr/>
        </p:nvSpPr>
        <p:spPr>
          <a:xfrm rot="-840791">
            <a:off x="-1975556" y="481046"/>
            <a:ext cx="7315200" cy="559551"/>
          </a:xfrm>
          <a:custGeom>
            <a:avLst/>
            <a:gdLst/>
            <a:ahLst/>
            <a:cxnLst/>
            <a:rect l="l" t="t" r="r" b="b"/>
            <a:pathLst>
              <a:path w="7315200" h="559551">
                <a:moveTo>
                  <a:pt x="0" y="0"/>
                </a:moveTo>
                <a:lnTo>
                  <a:pt x="7315200" y="0"/>
                </a:lnTo>
                <a:lnTo>
                  <a:pt x="7315200" y="559551"/>
                </a:lnTo>
                <a:lnTo>
                  <a:pt x="0" y="55955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10800000">
            <a:off x="10459457" y="5712252"/>
            <a:ext cx="3715270" cy="743054"/>
          </a:xfrm>
          <a:custGeom>
            <a:avLst/>
            <a:gdLst/>
            <a:ahLst/>
            <a:cxnLst/>
            <a:rect l="l" t="t" r="r" b="b"/>
            <a:pathLst>
              <a:path w="3715270" h="743054">
                <a:moveTo>
                  <a:pt x="0" y="0"/>
                </a:moveTo>
                <a:lnTo>
                  <a:pt x="3715270" y="0"/>
                </a:lnTo>
                <a:lnTo>
                  <a:pt x="3715270" y="743054"/>
                </a:lnTo>
                <a:lnTo>
                  <a:pt x="0" y="743054"/>
                </a:lnTo>
                <a:lnTo>
                  <a:pt x="0" y="0"/>
                </a:lnTo>
                <a:close/>
              </a:path>
            </a:pathLst>
          </a:custGeom>
          <a:blipFill>
            <a:blip r:embed="rId4">
              <a:alphaModFix amt="18000"/>
              <a:extLst>
                <a:ext uri="{96DAC541-7B7A-43D3-8B79-37D633B846F1}">
                  <asvg:svgBlip xmlns:asvg="http://schemas.microsoft.com/office/drawing/2016/SVG/main" xmlns="" r:embed="rId5"/>
                </a:ext>
              </a:extLst>
            </a:blip>
            <a:stretch>
              <a:fillRect/>
            </a:stretch>
          </a:blipFill>
        </p:spPr>
      </p:sp>
      <p:sp>
        <p:nvSpPr>
          <p:cNvPr id="5" name="Freeform 5"/>
          <p:cNvSpPr/>
          <p:nvPr/>
        </p:nvSpPr>
        <p:spPr>
          <a:xfrm rot="-10800000">
            <a:off x="13499483" y="936428"/>
            <a:ext cx="3715270" cy="743054"/>
          </a:xfrm>
          <a:custGeom>
            <a:avLst/>
            <a:gdLst/>
            <a:ahLst/>
            <a:cxnLst/>
            <a:rect l="l" t="t" r="r" b="b"/>
            <a:pathLst>
              <a:path w="3715270" h="743054">
                <a:moveTo>
                  <a:pt x="0" y="0"/>
                </a:moveTo>
                <a:lnTo>
                  <a:pt x="3715271" y="0"/>
                </a:lnTo>
                <a:lnTo>
                  <a:pt x="3715271" y="743054"/>
                </a:lnTo>
                <a:lnTo>
                  <a:pt x="0" y="743054"/>
                </a:lnTo>
                <a:lnTo>
                  <a:pt x="0" y="0"/>
                </a:lnTo>
                <a:close/>
              </a:path>
            </a:pathLst>
          </a:custGeom>
          <a:blipFill>
            <a:blip r:embed="rId4">
              <a:alphaModFix amt="18000"/>
              <a:extLst>
                <a:ext uri="{96DAC541-7B7A-43D3-8B79-37D633B846F1}">
                  <asvg:svgBlip xmlns:asvg="http://schemas.microsoft.com/office/drawing/2016/SVG/main" xmlns="" r:embed="rId5"/>
                </a:ext>
              </a:extLst>
            </a:blip>
            <a:stretch>
              <a:fillRect/>
            </a:stretch>
          </a:blipFill>
        </p:spPr>
      </p:sp>
      <p:grpSp>
        <p:nvGrpSpPr>
          <p:cNvPr id="6" name="Group 6"/>
          <p:cNvGrpSpPr>
            <a:grpSpLocks noChangeAspect="1"/>
          </p:cNvGrpSpPr>
          <p:nvPr/>
        </p:nvGrpSpPr>
        <p:grpSpPr>
          <a:xfrm>
            <a:off x="-1743300" y="4413261"/>
            <a:ext cx="8352590" cy="3341036"/>
            <a:chOff x="0" y="0"/>
            <a:chExt cx="6350000" cy="2540000"/>
          </a:xfrm>
        </p:grpSpPr>
        <p:sp>
          <p:nvSpPr>
            <p:cNvPr id="7" name="Freeform 7"/>
            <p:cNvSpPr/>
            <p:nvPr/>
          </p:nvSpPr>
          <p:spPr>
            <a:xfrm>
              <a:off x="0" y="0"/>
              <a:ext cx="6350000" cy="2540000"/>
            </a:xfrm>
            <a:custGeom>
              <a:avLst/>
              <a:gdLst/>
              <a:ahLst/>
              <a:cxnLst/>
              <a:rect l="l" t="t" r="r" b="b"/>
              <a:pathLst>
                <a:path w="6350000" h="2540000">
                  <a:moveTo>
                    <a:pt x="0" y="1270000"/>
                  </a:moveTo>
                  <a:lnTo>
                    <a:pt x="0" y="1270000"/>
                  </a:lnTo>
                  <a:cubicBezTo>
                    <a:pt x="0" y="568960"/>
                    <a:pt x="568960" y="0"/>
                    <a:pt x="1270000" y="0"/>
                  </a:cubicBezTo>
                  <a:lnTo>
                    <a:pt x="5080000" y="0"/>
                  </a:lnTo>
                  <a:cubicBezTo>
                    <a:pt x="5781040" y="0"/>
                    <a:pt x="6350000" y="568960"/>
                    <a:pt x="6350000" y="1270000"/>
                  </a:cubicBezTo>
                  <a:lnTo>
                    <a:pt x="6350000" y="1270000"/>
                  </a:lnTo>
                  <a:cubicBezTo>
                    <a:pt x="6350000" y="1971040"/>
                    <a:pt x="5781040" y="2540000"/>
                    <a:pt x="5080000" y="2540000"/>
                  </a:cubicBezTo>
                  <a:lnTo>
                    <a:pt x="1270000" y="2540000"/>
                  </a:lnTo>
                  <a:cubicBezTo>
                    <a:pt x="568960" y="2540000"/>
                    <a:pt x="0" y="1971040"/>
                    <a:pt x="0" y="1270000"/>
                  </a:cubicBezTo>
                  <a:close/>
                </a:path>
              </a:pathLst>
            </a:custGeom>
            <a:blipFill>
              <a:blip r:embed="rId6"/>
              <a:stretch>
                <a:fillRect t="-29827" b="-29827"/>
              </a:stretch>
            </a:blipFill>
          </p:spPr>
        </p:sp>
        <p:sp>
          <p:nvSpPr>
            <p:cNvPr id="8" name="Freeform 8"/>
            <p:cNvSpPr/>
            <p:nvPr/>
          </p:nvSpPr>
          <p:spPr>
            <a:xfrm>
              <a:off x="0" y="0"/>
              <a:ext cx="6350000" cy="2540000"/>
            </a:xfrm>
            <a:custGeom>
              <a:avLst/>
              <a:gdLst/>
              <a:ahLst/>
              <a:cxnLst/>
              <a:rect l="l" t="t" r="r" b="b"/>
              <a:pathLst>
                <a:path w="6350000" h="2540000">
                  <a:moveTo>
                    <a:pt x="5080000" y="19050"/>
                  </a:moveTo>
                  <a:cubicBezTo>
                    <a:pt x="5769610" y="19050"/>
                    <a:pt x="6330950" y="580390"/>
                    <a:pt x="6330950" y="1270000"/>
                  </a:cubicBezTo>
                  <a:cubicBezTo>
                    <a:pt x="6330950" y="1959610"/>
                    <a:pt x="5769610" y="2520950"/>
                    <a:pt x="5080000" y="2520950"/>
                  </a:cubicBezTo>
                  <a:lnTo>
                    <a:pt x="1270000" y="2520950"/>
                  </a:lnTo>
                  <a:cubicBezTo>
                    <a:pt x="580390" y="2520950"/>
                    <a:pt x="19050" y="1959610"/>
                    <a:pt x="19050" y="1270000"/>
                  </a:cubicBezTo>
                  <a:cubicBezTo>
                    <a:pt x="19050" y="580390"/>
                    <a:pt x="580390" y="19050"/>
                    <a:pt x="1270000" y="19050"/>
                  </a:cubicBezTo>
                  <a:lnTo>
                    <a:pt x="5080000" y="19050"/>
                  </a:lnTo>
                  <a:moveTo>
                    <a:pt x="5080000" y="0"/>
                  </a:moveTo>
                  <a:lnTo>
                    <a:pt x="1270000" y="0"/>
                  </a:lnTo>
                  <a:cubicBezTo>
                    <a:pt x="568960" y="0"/>
                    <a:pt x="0" y="568960"/>
                    <a:pt x="0" y="1270000"/>
                  </a:cubicBezTo>
                  <a:cubicBezTo>
                    <a:pt x="0" y="1971040"/>
                    <a:pt x="568960" y="2540000"/>
                    <a:pt x="1270000" y="2540000"/>
                  </a:cubicBezTo>
                  <a:lnTo>
                    <a:pt x="5080000" y="2540000"/>
                  </a:lnTo>
                  <a:cubicBezTo>
                    <a:pt x="5781040" y="2540000"/>
                    <a:pt x="6350000" y="1971040"/>
                    <a:pt x="6350000" y="1270000"/>
                  </a:cubicBezTo>
                  <a:cubicBezTo>
                    <a:pt x="6350000" y="568960"/>
                    <a:pt x="5781040" y="0"/>
                    <a:pt x="5080000" y="0"/>
                  </a:cubicBezTo>
                  <a:lnTo>
                    <a:pt x="5080000" y="0"/>
                  </a:lnTo>
                  <a:close/>
                </a:path>
              </a:pathLst>
            </a:custGeom>
            <a:solidFill>
              <a:srgbClr val="1E1E1E"/>
            </a:solidFill>
          </p:spPr>
        </p:sp>
      </p:grpSp>
      <p:grpSp>
        <p:nvGrpSpPr>
          <p:cNvPr id="9" name="Group 9"/>
          <p:cNvGrpSpPr/>
          <p:nvPr/>
        </p:nvGrpSpPr>
        <p:grpSpPr>
          <a:xfrm>
            <a:off x="5773757" y="5248246"/>
            <a:ext cx="1671068" cy="167106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00050" cap="sq">
              <a:solidFill>
                <a:srgbClr val="FFFFFF"/>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358829" y="1588183"/>
            <a:ext cx="11408832" cy="841636"/>
          </a:xfrm>
          <a:prstGeom prst="rect">
            <a:avLst/>
          </a:prstGeom>
        </p:spPr>
        <p:txBody>
          <a:bodyPr lIns="0" tIns="0" rIns="0" bIns="0" rtlCol="0" anchor="t">
            <a:spAutoFit/>
          </a:bodyPr>
          <a:lstStyle/>
          <a:p>
            <a:pPr algn="l">
              <a:lnSpc>
                <a:spcPts val="6003"/>
              </a:lnSpc>
            </a:pPr>
            <a:r>
              <a:rPr lang="en-US" sz="6900" b="1" spc="-351">
                <a:solidFill>
                  <a:srgbClr val="FFFFFF"/>
                </a:solidFill>
                <a:latin typeface="Inter Bold"/>
                <a:ea typeface="Inter Bold"/>
                <a:cs typeface="Inter Bold"/>
                <a:sym typeface="Inter Bold"/>
              </a:rPr>
              <a:t>Used technologies </a:t>
            </a:r>
          </a:p>
        </p:txBody>
      </p:sp>
      <p:sp>
        <p:nvSpPr>
          <p:cNvPr id="13" name="Freeform 13"/>
          <p:cNvSpPr/>
          <p:nvPr/>
        </p:nvSpPr>
        <p:spPr>
          <a:xfrm rot="-10800000">
            <a:off x="8815239" y="936428"/>
            <a:ext cx="3715270" cy="743054"/>
          </a:xfrm>
          <a:custGeom>
            <a:avLst/>
            <a:gdLst/>
            <a:ahLst/>
            <a:cxnLst/>
            <a:rect l="l" t="t" r="r" b="b"/>
            <a:pathLst>
              <a:path w="3715270" h="743054">
                <a:moveTo>
                  <a:pt x="0" y="0"/>
                </a:moveTo>
                <a:lnTo>
                  <a:pt x="3715271" y="0"/>
                </a:lnTo>
                <a:lnTo>
                  <a:pt x="3715271" y="743054"/>
                </a:lnTo>
                <a:lnTo>
                  <a:pt x="0" y="743054"/>
                </a:lnTo>
                <a:lnTo>
                  <a:pt x="0" y="0"/>
                </a:lnTo>
                <a:close/>
              </a:path>
            </a:pathLst>
          </a:custGeom>
          <a:blipFill>
            <a:blip r:embed="rId4">
              <a:alphaModFix amt="18000"/>
              <a:extLst>
                <a:ext uri="{96DAC541-7B7A-43D3-8B79-37D633B846F1}">
                  <asvg:svgBlip xmlns:asvg="http://schemas.microsoft.com/office/drawing/2016/SVG/main" xmlns="" r:embed="rId5"/>
                </a:ext>
              </a:extLst>
            </a:blip>
            <a:stretch>
              <a:fillRect/>
            </a:stretch>
          </a:blipFill>
        </p:spPr>
      </p:sp>
      <p:sp>
        <p:nvSpPr>
          <p:cNvPr id="14" name="TextBox 14"/>
          <p:cNvSpPr txBox="1"/>
          <p:nvPr/>
        </p:nvSpPr>
        <p:spPr>
          <a:xfrm>
            <a:off x="10700828" y="6574758"/>
            <a:ext cx="5152690" cy="3397305"/>
          </a:xfrm>
          <a:prstGeom prst="rect">
            <a:avLst/>
          </a:prstGeom>
        </p:spPr>
        <p:txBody>
          <a:bodyPr lIns="0" tIns="0" rIns="0" bIns="0" rtlCol="0" anchor="t">
            <a:spAutoFit/>
          </a:bodyPr>
          <a:lstStyle/>
          <a:p>
            <a:pPr marL="583617" lvl="1" indent="-291808" algn="l">
              <a:lnSpc>
                <a:spcPts val="4352"/>
              </a:lnSpc>
              <a:buFont typeface="Arial"/>
              <a:buChar char="•"/>
            </a:pPr>
            <a:r>
              <a:rPr lang="en-US" sz="2703">
                <a:solidFill>
                  <a:srgbClr val="FFFFFF"/>
                </a:solidFill>
                <a:latin typeface="Inter"/>
                <a:ea typeface="Inter"/>
                <a:cs typeface="Inter"/>
                <a:sym typeface="Inter"/>
              </a:rPr>
              <a:t>OpenCV</a:t>
            </a:r>
          </a:p>
          <a:p>
            <a:pPr marL="583617" lvl="1" indent="-291808" algn="l">
              <a:lnSpc>
                <a:spcPts val="4352"/>
              </a:lnSpc>
              <a:buFont typeface="Arial"/>
              <a:buChar char="•"/>
            </a:pPr>
            <a:r>
              <a:rPr lang="en-US" sz="2703">
                <a:solidFill>
                  <a:srgbClr val="FFFFFF"/>
                </a:solidFill>
                <a:latin typeface="Inter"/>
                <a:ea typeface="Inter"/>
                <a:cs typeface="Inter"/>
                <a:sym typeface="Inter"/>
              </a:rPr>
              <a:t>PaddleOCR</a:t>
            </a:r>
          </a:p>
          <a:p>
            <a:pPr marL="582930" lvl="1" indent="-291465" algn="l">
              <a:lnSpc>
                <a:spcPts val="4752"/>
              </a:lnSpc>
              <a:buFont typeface="Arial"/>
              <a:buChar char="•"/>
            </a:pPr>
            <a:r>
              <a:rPr lang="en-US" sz="2700">
                <a:solidFill>
                  <a:srgbClr val="FFFFFF"/>
                </a:solidFill>
                <a:latin typeface="Inter"/>
                <a:ea typeface="Inter"/>
                <a:cs typeface="Inter"/>
                <a:sym typeface="Inter"/>
              </a:rPr>
              <a:t>EasyOCR</a:t>
            </a:r>
          </a:p>
          <a:p>
            <a:pPr marL="582930" lvl="1" indent="-291465" algn="l">
              <a:lnSpc>
                <a:spcPts val="4752"/>
              </a:lnSpc>
              <a:buFont typeface="Arial"/>
              <a:buChar char="•"/>
            </a:pPr>
            <a:r>
              <a:rPr lang="en-US" sz="2700">
                <a:solidFill>
                  <a:srgbClr val="FFFFFF"/>
                </a:solidFill>
                <a:latin typeface="Inter"/>
                <a:ea typeface="Inter"/>
                <a:cs typeface="Inter"/>
                <a:sym typeface="Inter"/>
              </a:rPr>
              <a:t>YOLO</a:t>
            </a:r>
          </a:p>
          <a:p>
            <a:pPr algn="l">
              <a:lnSpc>
                <a:spcPts val="4751"/>
              </a:lnSpc>
            </a:pPr>
            <a:endParaRPr lang="en-US" sz="2700">
              <a:solidFill>
                <a:srgbClr val="FFFFFF"/>
              </a:solidFill>
              <a:latin typeface="Inter"/>
              <a:ea typeface="Inter"/>
              <a:cs typeface="Inter"/>
              <a:sym typeface="Inter"/>
            </a:endParaRPr>
          </a:p>
          <a:p>
            <a:pPr algn="l">
              <a:lnSpc>
                <a:spcPts val="4214"/>
              </a:lnSpc>
            </a:pPr>
            <a:endParaRPr lang="en-US" sz="2700">
              <a:solidFill>
                <a:srgbClr val="FFFFFF"/>
              </a:solidFill>
              <a:latin typeface="Inter"/>
              <a:ea typeface="Inter"/>
              <a:cs typeface="Inter"/>
              <a:sym typeface="Inter"/>
            </a:endParaRPr>
          </a:p>
        </p:txBody>
      </p:sp>
      <p:sp>
        <p:nvSpPr>
          <p:cNvPr id="15" name="TextBox 15"/>
          <p:cNvSpPr txBox="1"/>
          <p:nvPr/>
        </p:nvSpPr>
        <p:spPr>
          <a:xfrm>
            <a:off x="13277174" y="1717917"/>
            <a:ext cx="4504868" cy="617857"/>
          </a:xfrm>
          <a:prstGeom prst="rect">
            <a:avLst/>
          </a:prstGeom>
        </p:spPr>
        <p:txBody>
          <a:bodyPr lIns="0" tIns="0" rIns="0" bIns="0" rtlCol="0" anchor="t">
            <a:spAutoFit/>
          </a:bodyPr>
          <a:lstStyle/>
          <a:p>
            <a:pPr marL="604516" lvl="1" indent="-302258" algn="l">
              <a:lnSpc>
                <a:spcPts val="5319"/>
              </a:lnSpc>
              <a:buFont typeface="Arial"/>
              <a:buChar char="•"/>
            </a:pPr>
            <a:r>
              <a:rPr lang="en-US" sz="2799">
                <a:solidFill>
                  <a:srgbClr val="FFFFFF"/>
                </a:solidFill>
                <a:latin typeface="Inter"/>
                <a:ea typeface="Inter"/>
                <a:cs typeface="Inter"/>
                <a:sym typeface="Inter"/>
              </a:rPr>
              <a:t> Flask</a:t>
            </a:r>
          </a:p>
        </p:txBody>
      </p:sp>
      <p:sp>
        <p:nvSpPr>
          <p:cNvPr id="16" name="TextBox 16"/>
          <p:cNvSpPr txBox="1"/>
          <p:nvPr/>
        </p:nvSpPr>
        <p:spPr>
          <a:xfrm>
            <a:off x="8619562" y="1189530"/>
            <a:ext cx="3715270" cy="406781"/>
          </a:xfrm>
          <a:prstGeom prst="rect">
            <a:avLst/>
          </a:prstGeom>
        </p:spPr>
        <p:txBody>
          <a:bodyPr lIns="0" tIns="0" rIns="0" bIns="0" rtlCol="0" anchor="t">
            <a:spAutoFit/>
          </a:bodyPr>
          <a:lstStyle/>
          <a:p>
            <a:pPr algn="ctr">
              <a:lnSpc>
                <a:spcPts val="3276"/>
              </a:lnSpc>
              <a:spcBef>
                <a:spcPct val="0"/>
              </a:spcBef>
            </a:pPr>
            <a:r>
              <a:rPr lang="en-US" sz="2899">
                <a:solidFill>
                  <a:srgbClr val="FFFFFF"/>
                </a:solidFill>
                <a:latin typeface="League Spartan"/>
                <a:ea typeface="League Spartan"/>
                <a:cs typeface="League Spartan"/>
                <a:sym typeface="League Spartan"/>
              </a:rPr>
              <a:t>FRONT END</a:t>
            </a:r>
          </a:p>
        </p:txBody>
      </p:sp>
      <p:sp>
        <p:nvSpPr>
          <p:cNvPr id="17" name="TextBox 17"/>
          <p:cNvSpPr txBox="1"/>
          <p:nvPr/>
        </p:nvSpPr>
        <p:spPr>
          <a:xfrm>
            <a:off x="13277174" y="1189530"/>
            <a:ext cx="3715270" cy="406781"/>
          </a:xfrm>
          <a:prstGeom prst="rect">
            <a:avLst/>
          </a:prstGeom>
        </p:spPr>
        <p:txBody>
          <a:bodyPr lIns="0" tIns="0" rIns="0" bIns="0" rtlCol="0" anchor="t">
            <a:spAutoFit/>
          </a:bodyPr>
          <a:lstStyle/>
          <a:p>
            <a:pPr algn="ctr">
              <a:lnSpc>
                <a:spcPts val="3276"/>
              </a:lnSpc>
              <a:spcBef>
                <a:spcPct val="0"/>
              </a:spcBef>
            </a:pPr>
            <a:r>
              <a:rPr lang="en-US" sz="2899">
                <a:solidFill>
                  <a:srgbClr val="FFFFFF"/>
                </a:solidFill>
                <a:latin typeface="League Spartan"/>
                <a:ea typeface="League Spartan"/>
                <a:cs typeface="League Spartan"/>
                <a:sym typeface="League Spartan"/>
              </a:rPr>
              <a:t>BACKEND</a:t>
            </a:r>
          </a:p>
        </p:txBody>
      </p:sp>
      <p:sp>
        <p:nvSpPr>
          <p:cNvPr id="18" name="TextBox 18"/>
          <p:cNvSpPr txBox="1"/>
          <p:nvPr/>
        </p:nvSpPr>
        <p:spPr>
          <a:xfrm>
            <a:off x="10154189" y="5945165"/>
            <a:ext cx="3715270" cy="406781"/>
          </a:xfrm>
          <a:prstGeom prst="rect">
            <a:avLst/>
          </a:prstGeom>
        </p:spPr>
        <p:txBody>
          <a:bodyPr lIns="0" tIns="0" rIns="0" bIns="0" rtlCol="0" anchor="t">
            <a:spAutoFit/>
          </a:bodyPr>
          <a:lstStyle/>
          <a:p>
            <a:pPr algn="ctr">
              <a:lnSpc>
                <a:spcPts val="3276"/>
              </a:lnSpc>
              <a:spcBef>
                <a:spcPct val="0"/>
              </a:spcBef>
            </a:pPr>
            <a:r>
              <a:rPr lang="en-US" sz="2899">
                <a:solidFill>
                  <a:srgbClr val="FFFFFF"/>
                </a:solidFill>
                <a:latin typeface="League Spartan"/>
                <a:ea typeface="League Spartan"/>
                <a:cs typeface="League Spartan"/>
                <a:sym typeface="League Spartan"/>
              </a:rPr>
              <a:t>ML</a:t>
            </a:r>
          </a:p>
        </p:txBody>
      </p:sp>
      <p:sp>
        <p:nvSpPr>
          <p:cNvPr id="19" name="TextBox 19"/>
          <p:cNvSpPr txBox="1"/>
          <p:nvPr/>
        </p:nvSpPr>
        <p:spPr>
          <a:xfrm>
            <a:off x="8815239" y="1914870"/>
            <a:ext cx="4684244" cy="525995"/>
          </a:xfrm>
          <a:prstGeom prst="rect">
            <a:avLst/>
          </a:prstGeom>
        </p:spPr>
        <p:txBody>
          <a:bodyPr lIns="0" tIns="0" rIns="0" bIns="0" rtlCol="0" anchor="t">
            <a:spAutoFit/>
          </a:bodyPr>
          <a:lstStyle/>
          <a:p>
            <a:pPr marL="583617" lvl="1" indent="-291808" algn="l">
              <a:lnSpc>
                <a:spcPts val="4352"/>
              </a:lnSpc>
              <a:buFont typeface="Arial"/>
              <a:buChar char="•"/>
            </a:pPr>
            <a:r>
              <a:rPr lang="en-US" sz="2703">
                <a:solidFill>
                  <a:srgbClr val="FFFFFF"/>
                </a:solidFill>
                <a:latin typeface="Inter"/>
                <a:ea typeface="Inter"/>
                <a:cs typeface="Inter"/>
                <a:sym typeface="Inter"/>
              </a:rPr>
              <a:t>HTML / CSS</a:t>
            </a:r>
          </a:p>
        </p:txBody>
      </p:sp>
      <p:sp>
        <p:nvSpPr>
          <p:cNvPr id="20" name="TextBox 20"/>
          <p:cNvSpPr txBox="1"/>
          <p:nvPr/>
        </p:nvSpPr>
        <p:spPr>
          <a:xfrm>
            <a:off x="8815239" y="2643641"/>
            <a:ext cx="4684244" cy="525995"/>
          </a:xfrm>
          <a:prstGeom prst="rect">
            <a:avLst/>
          </a:prstGeom>
        </p:spPr>
        <p:txBody>
          <a:bodyPr lIns="0" tIns="0" rIns="0" bIns="0" rtlCol="0" anchor="t">
            <a:spAutoFit/>
          </a:bodyPr>
          <a:lstStyle/>
          <a:p>
            <a:pPr marL="583617" lvl="1" indent="-291808" algn="l">
              <a:lnSpc>
                <a:spcPts val="4352"/>
              </a:lnSpc>
              <a:buFont typeface="Arial"/>
              <a:buChar char="•"/>
            </a:pPr>
            <a:r>
              <a:rPr lang="en-US" sz="2703">
                <a:solidFill>
                  <a:srgbClr val="FFFFFF"/>
                </a:solidFill>
                <a:latin typeface="Inter"/>
                <a:ea typeface="Inter"/>
                <a:cs typeface="Inter"/>
                <a:sym typeface="Inter"/>
              </a:rPr>
              <a:t>JavaScript</a:t>
            </a:r>
          </a:p>
        </p:txBody>
      </p:sp>
      <p:sp>
        <p:nvSpPr>
          <p:cNvPr id="21" name="TextBox 21"/>
          <p:cNvSpPr txBox="1"/>
          <p:nvPr/>
        </p:nvSpPr>
        <p:spPr>
          <a:xfrm>
            <a:off x="8815239" y="3379186"/>
            <a:ext cx="4684244" cy="525995"/>
          </a:xfrm>
          <a:prstGeom prst="rect">
            <a:avLst/>
          </a:prstGeom>
        </p:spPr>
        <p:txBody>
          <a:bodyPr lIns="0" tIns="0" rIns="0" bIns="0" rtlCol="0" anchor="t">
            <a:spAutoFit/>
          </a:bodyPr>
          <a:lstStyle/>
          <a:p>
            <a:pPr marL="583617" lvl="1" indent="-291808" algn="l">
              <a:lnSpc>
                <a:spcPts val="4352"/>
              </a:lnSpc>
              <a:buFont typeface="Arial"/>
              <a:buChar char="•"/>
            </a:pPr>
            <a:r>
              <a:rPr lang="en-US" sz="2703">
                <a:solidFill>
                  <a:srgbClr val="FFFFFF"/>
                </a:solidFill>
                <a:latin typeface="Inter"/>
                <a:ea typeface="Inter"/>
                <a:cs typeface="Inter"/>
                <a:sym typeface="Inter"/>
              </a:rPr>
              <a:t>Bootstrap</a:t>
            </a:r>
          </a:p>
        </p:txBody>
      </p:sp>
      <p:sp>
        <p:nvSpPr>
          <p:cNvPr id="22" name="TextBox 22"/>
          <p:cNvSpPr txBox="1"/>
          <p:nvPr/>
        </p:nvSpPr>
        <p:spPr>
          <a:xfrm>
            <a:off x="8815239" y="4093114"/>
            <a:ext cx="4684244" cy="525995"/>
          </a:xfrm>
          <a:prstGeom prst="rect">
            <a:avLst/>
          </a:prstGeom>
        </p:spPr>
        <p:txBody>
          <a:bodyPr lIns="0" tIns="0" rIns="0" bIns="0" rtlCol="0" anchor="t">
            <a:spAutoFit/>
          </a:bodyPr>
          <a:lstStyle/>
          <a:p>
            <a:pPr marL="583617" lvl="1" indent="-291808" algn="l">
              <a:lnSpc>
                <a:spcPts val="4352"/>
              </a:lnSpc>
              <a:buFont typeface="Arial"/>
              <a:buChar char="•"/>
            </a:pPr>
            <a:r>
              <a:rPr lang="en-US" sz="2703">
                <a:solidFill>
                  <a:srgbClr val="FFFFFF"/>
                </a:solidFill>
                <a:latin typeface="Inter"/>
                <a:ea typeface="Inter"/>
                <a:cs typeface="Inter"/>
                <a:sym typeface="Inter"/>
              </a:rPr>
              <a:t>jQuery</a:t>
            </a:r>
          </a:p>
        </p:txBody>
      </p:sp>
      <p:sp>
        <p:nvSpPr>
          <p:cNvPr id="23" name="TextBox 23"/>
          <p:cNvSpPr txBox="1"/>
          <p:nvPr/>
        </p:nvSpPr>
        <p:spPr>
          <a:xfrm>
            <a:off x="13277174" y="2385302"/>
            <a:ext cx="4504868" cy="598171"/>
          </a:xfrm>
          <a:prstGeom prst="rect">
            <a:avLst/>
          </a:prstGeom>
        </p:spPr>
        <p:txBody>
          <a:bodyPr lIns="0" tIns="0" rIns="0" bIns="0" rtlCol="0" anchor="t">
            <a:spAutoFit/>
          </a:bodyPr>
          <a:lstStyle/>
          <a:p>
            <a:pPr marL="582927" lvl="1" indent="-291463" algn="l">
              <a:lnSpc>
                <a:spcPts val="5129"/>
              </a:lnSpc>
              <a:buFont typeface="Arial"/>
              <a:buChar char="•"/>
            </a:pPr>
            <a:r>
              <a:rPr lang="en-US" sz="2699">
                <a:solidFill>
                  <a:srgbClr val="FFFFFF"/>
                </a:solidFill>
                <a:latin typeface="Inter"/>
                <a:ea typeface="Inter"/>
                <a:cs typeface="Inter"/>
                <a:sym typeface="Inter"/>
              </a:rPr>
              <a:t>MongoDB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4809401">
            <a:off x="-3004629" y="-2159127"/>
            <a:ext cx="5020066" cy="5020066"/>
          </a:xfrm>
          <a:custGeom>
            <a:avLst/>
            <a:gdLst/>
            <a:ahLst/>
            <a:cxnLst/>
            <a:rect l="l" t="t" r="r" b="b"/>
            <a:pathLst>
              <a:path w="5020066" h="5020066">
                <a:moveTo>
                  <a:pt x="0" y="0"/>
                </a:moveTo>
                <a:lnTo>
                  <a:pt x="5020067" y="0"/>
                </a:lnTo>
                <a:lnTo>
                  <a:pt x="5020067" y="5020067"/>
                </a:lnTo>
                <a:lnTo>
                  <a:pt x="0" y="5020067"/>
                </a:lnTo>
                <a:lnTo>
                  <a:pt x="0" y="0"/>
                </a:lnTo>
                <a:close/>
              </a:path>
            </a:pathLst>
          </a:custGeom>
          <a:blipFill>
            <a:blip r:embed="rId2">
              <a:alphaModFix amt="67000"/>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183878">
            <a:off x="15549611" y="-1851240"/>
            <a:ext cx="5020066" cy="5020066"/>
          </a:xfrm>
          <a:custGeom>
            <a:avLst/>
            <a:gdLst/>
            <a:ahLst/>
            <a:cxnLst/>
            <a:rect l="l" t="t" r="r" b="b"/>
            <a:pathLst>
              <a:path w="5020066" h="5020066">
                <a:moveTo>
                  <a:pt x="0" y="0"/>
                </a:moveTo>
                <a:lnTo>
                  <a:pt x="5020067" y="0"/>
                </a:lnTo>
                <a:lnTo>
                  <a:pt x="5020067" y="5020067"/>
                </a:lnTo>
                <a:lnTo>
                  <a:pt x="0" y="5020067"/>
                </a:lnTo>
                <a:lnTo>
                  <a:pt x="0" y="0"/>
                </a:lnTo>
                <a:close/>
              </a:path>
            </a:pathLst>
          </a:custGeom>
          <a:blipFill>
            <a:blip r:embed="rId2">
              <a:alphaModFix amt="67000"/>
              <a:extLst>
                <a:ext uri="{96DAC541-7B7A-43D3-8B79-37D633B846F1}">
                  <asvg:svgBlip xmlns:asvg="http://schemas.microsoft.com/office/drawing/2016/SVG/main" xmlns="" r:embed="rId3"/>
                </a:ext>
              </a:extLst>
            </a:blip>
            <a:stretch>
              <a:fillRect/>
            </a:stretch>
          </a:blipFill>
        </p:spPr>
      </p:sp>
      <p:sp>
        <p:nvSpPr>
          <p:cNvPr id="4" name="Freeform 4"/>
          <p:cNvSpPr/>
          <p:nvPr/>
        </p:nvSpPr>
        <p:spPr>
          <a:xfrm rot="6248629">
            <a:off x="16200802" y="8045648"/>
            <a:ext cx="5020066" cy="5020066"/>
          </a:xfrm>
          <a:custGeom>
            <a:avLst/>
            <a:gdLst/>
            <a:ahLst/>
            <a:cxnLst/>
            <a:rect l="l" t="t" r="r" b="b"/>
            <a:pathLst>
              <a:path w="5020066" h="5020066">
                <a:moveTo>
                  <a:pt x="0" y="0"/>
                </a:moveTo>
                <a:lnTo>
                  <a:pt x="5020066" y="0"/>
                </a:lnTo>
                <a:lnTo>
                  <a:pt x="5020066" y="5020066"/>
                </a:lnTo>
                <a:lnTo>
                  <a:pt x="0" y="5020066"/>
                </a:lnTo>
                <a:lnTo>
                  <a:pt x="0" y="0"/>
                </a:lnTo>
                <a:close/>
              </a:path>
            </a:pathLst>
          </a:custGeom>
          <a:blipFill>
            <a:blip r:embed="rId4">
              <a:alphaModFix amt="67000"/>
              <a:extLst>
                <a:ext uri="{96DAC541-7B7A-43D3-8B79-37D633B846F1}">
                  <asvg:svgBlip xmlns:asvg="http://schemas.microsoft.com/office/drawing/2016/SVG/main" xmlns="" r:embed="rId5"/>
                </a:ext>
              </a:extLst>
            </a:blip>
            <a:stretch>
              <a:fillRect/>
            </a:stretch>
          </a:blipFill>
        </p:spPr>
      </p:sp>
      <p:sp>
        <p:nvSpPr>
          <p:cNvPr id="5" name="Freeform 5"/>
          <p:cNvSpPr/>
          <p:nvPr/>
        </p:nvSpPr>
        <p:spPr>
          <a:xfrm rot="-10017075">
            <a:off x="-4010971" y="8254020"/>
            <a:ext cx="5020066" cy="5020066"/>
          </a:xfrm>
          <a:custGeom>
            <a:avLst/>
            <a:gdLst/>
            <a:ahLst/>
            <a:cxnLst/>
            <a:rect l="l" t="t" r="r" b="b"/>
            <a:pathLst>
              <a:path w="5020066" h="5020066">
                <a:moveTo>
                  <a:pt x="0" y="0"/>
                </a:moveTo>
                <a:lnTo>
                  <a:pt x="5020067" y="0"/>
                </a:lnTo>
                <a:lnTo>
                  <a:pt x="5020067" y="5020067"/>
                </a:lnTo>
                <a:lnTo>
                  <a:pt x="0" y="5020067"/>
                </a:lnTo>
                <a:lnTo>
                  <a:pt x="0" y="0"/>
                </a:lnTo>
                <a:close/>
              </a:path>
            </a:pathLst>
          </a:custGeom>
          <a:blipFill>
            <a:blip r:embed="rId4">
              <a:alphaModFix amt="67000"/>
              <a:extLst>
                <a:ext uri="{96DAC541-7B7A-43D3-8B79-37D633B846F1}">
                  <asvg:svgBlip xmlns:asvg="http://schemas.microsoft.com/office/drawing/2016/SVG/main" xmlns="" r:embed="rId5"/>
                </a:ext>
              </a:extLst>
            </a:blip>
            <a:stretch>
              <a:fillRect/>
            </a:stretch>
          </a:blipFill>
        </p:spPr>
      </p:sp>
      <p:sp>
        <p:nvSpPr>
          <p:cNvPr id="6" name="Freeform 6"/>
          <p:cNvSpPr/>
          <p:nvPr/>
        </p:nvSpPr>
        <p:spPr>
          <a:xfrm rot="3523875">
            <a:off x="-265764" y="4531315"/>
            <a:ext cx="1224371" cy="1224371"/>
          </a:xfrm>
          <a:custGeom>
            <a:avLst/>
            <a:gdLst/>
            <a:ahLst/>
            <a:cxnLst/>
            <a:rect l="l" t="t" r="r" b="b"/>
            <a:pathLst>
              <a:path w="1224371" h="1224371">
                <a:moveTo>
                  <a:pt x="0" y="0"/>
                </a:moveTo>
                <a:lnTo>
                  <a:pt x="1224371" y="0"/>
                </a:lnTo>
                <a:lnTo>
                  <a:pt x="1224371" y="1224370"/>
                </a:lnTo>
                <a:lnTo>
                  <a:pt x="0" y="122437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7" name="Freeform 7"/>
          <p:cNvSpPr/>
          <p:nvPr/>
        </p:nvSpPr>
        <p:spPr>
          <a:xfrm rot="3523875">
            <a:off x="16042322" y="8829265"/>
            <a:ext cx="2026634" cy="2026634"/>
          </a:xfrm>
          <a:custGeom>
            <a:avLst/>
            <a:gdLst/>
            <a:ahLst/>
            <a:cxnLst/>
            <a:rect l="l" t="t" r="r" b="b"/>
            <a:pathLst>
              <a:path w="2026634" h="2026634">
                <a:moveTo>
                  <a:pt x="0" y="0"/>
                </a:moveTo>
                <a:lnTo>
                  <a:pt x="2026634" y="0"/>
                </a:lnTo>
                <a:lnTo>
                  <a:pt x="2026634" y="2026634"/>
                </a:lnTo>
                <a:lnTo>
                  <a:pt x="0" y="2026634"/>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TextBox 8"/>
          <p:cNvSpPr txBox="1"/>
          <p:nvPr/>
        </p:nvSpPr>
        <p:spPr>
          <a:xfrm>
            <a:off x="4632046" y="895350"/>
            <a:ext cx="8632140" cy="1243343"/>
          </a:xfrm>
          <a:prstGeom prst="rect">
            <a:avLst/>
          </a:prstGeom>
        </p:spPr>
        <p:txBody>
          <a:bodyPr lIns="0" tIns="0" rIns="0" bIns="0" rtlCol="0" anchor="t">
            <a:spAutoFit/>
          </a:bodyPr>
          <a:lstStyle/>
          <a:p>
            <a:pPr algn="ctr">
              <a:lnSpc>
                <a:spcPts val="10131"/>
              </a:lnSpc>
            </a:pPr>
            <a:r>
              <a:rPr lang="en-US" sz="7288">
                <a:solidFill>
                  <a:srgbClr val="FFFFFF"/>
                </a:solidFill>
                <a:latin typeface="League Spartan"/>
                <a:ea typeface="League Spartan"/>
                <a:cs typeface="League Spartan"/>
                <a:sym typeface="League Spartan"/>
              </a:rPr>
              <a:t>Project Features</a:t>
            </a:r>
          </a:p>
        </p:txBody>
      </p:sp>
      <p:sp>
        <p:nvSpPr>
          <p:cNvPr id="9" name="AutoShape 9"/>
          <p:cNvSpPr/>
          <p:nvPr/>
        </p:nvSpPr>
        <p:spPr>
          <a:xfrm>
            <a:off x="1891533" y="2897315"/>
            <a:ext cx="14504934" cy="0"/>
          </a:xfrm>
          <a:prstGeom prst="line">
            <a:avLst/>
          </a:prstGeom>
          <a:ln w="38100" cap="flat">
            <a:solidFill>
              <a:srgbClr val="FFFFFF"/>
            </a:solidFill>
            <a:prstDash val="solid"/>
            <a:headEnd type="none" w="sm" len="sm"/>
            <a:tailEnd type="none" w="sm" len="sm"/>
          </a:ln>
        </p:spPr>
      </p:sp>
      <p:sp>
        <p:nvSpPr>
          <p:cNvPr id="10" name="Freeform 10"/>
          <p:cNvSpPr/>
          <p:nvPr/>
        </p:nvSpPr>
        <p:spPr>
          <a:xfrm>
            <a:off x="3278957" y="3868865"/>
            <a:ext cx="1611838" cy="1611838"/>
          </a:xfrm>
          <a:custGeom>
            <a:avLst/>
            <a:gdLst/>
            <a:ahLst/>
            <a:cxnLst/>
            <a:rect l="l" t="t" r="r" b="b"/>
            <a:pathLst>
              <a:path w="1611838" h="1611838">
                <a:moveTo>
                  <a:pt x="0" y="0"/>
                </a:moveTo>
                <a:lnTo>
                  <a:pt x="1611838" y="0"/>
                </a:lnTo>
                <a:lnTo>
                  <a:pt x="1611838" y="1611838"/>
                </a:lnTo>
                <a:lnTo>
                  <a:pt x="0" y="1611838"/>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1" name="Freeform 11"/>
          <p:cNvSpPr/>
          <p:nvPr/>
        </p:nvSpPr>
        <p:spPr>
          <a:xfrm>
            <a:off x="3705027" y="4191180"/>
            <a:ext cx="759697" cy="967207"/>
          </a:xfrm>
          <a:custGeom>
            <a:avLst/>
            <a:gdLst/>
            <a:ahLst/>
            <a:cxnLst/>
            <a:rect l="l" t="t" r="r" b="b"/>
            <a:pathLst>
              <a:path w="759697" h="967207">
                <a:moveTo>
                  <a:pt x="0" y="0"/>
                </a:moveTo>
                <a:lnTo>
                  <a:pt x="759697" y="0"/>
                </a:lnTo>
                <a:lnTo>
                  <a:pt x="759697" y="967207"/>
                </a:lnTo>
                <a:lnTo>
                  <a:pt x="0" y="967207"/>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2" name="Freeform 12"/>
          <p:cNvSpPr/>
          <p:nvPr/>
        </p:nvSpPr>
        <p:spPr>
          <a:xfrm>
            <a:off x="6694532" y="3877800"/>
            <a:ext cx="1611838" cy="1611838"/>
          </a:xfrm>
          <a:custGeom>
            <a:avLst/>
            <a:gdLst/>
            <a:ahLst/>
            <a:cxnLst/>
            <a:rect l="l" t="t" r="r" b="b"/>
            <a:pathLst>
              <a:path w="1611838" h="1611838">
                <a:moveTo>
                  <a:pt x="0" y="0"/>
                </a:moveTo>
                <a:lnTo>
                  <a:pt x="1611838" y="0"/>
                </a:lnTo>
                <a:lnTo>
                  <a:pt x="1611838" y="1611838"/>
                </a:lnTo>
                <a:lnTo>
                  <a:pt x="0" y="1611838"/>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3" name="Freeform 13"/>
          <p:cNvSpPr/>
          <p:nvPr/>
        </p:nvSpPr>
        <p:spPr>
          <a:xfrm>
            <a:off x="7001272" y="4255777"/>
            <a:ext cx="935355" cy="911546"/>
          </a:xfrm>
          <a:custGeom>
            <a:avLst/>
            <a:gdLst/>
            <a:ahLst/>
            <a:cxnLst/>
            <a:rect l="l" t="t" r="r" b="b"/>
            <a:pathLst>
              <a:path w="935355" h="911546">
                <a:moveTo>
                  <a:pt x="0" y="0"/>
                </a:moveTo>
                <a:lnTo>
                  <a:pt x="935355" y="0"/>
                </a:lnTo>
                <a:lnTo>
                  <a:pt x="935355" y="911546"/>
                </a:lnTo>
                <a:lnTo>
                  <a:pt x="0" y="911546"/>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sp>
      <p:sp>
        <p:nvSpPr>
          <p:cNvPr id="14" name="Freeform 14"/>
          <p:cNvSpPr/>
          <p:nvPr/>
        </p:nvSpPr>
        <p:spPr>
          <a:xfrm>
            <a:off x="10045933" y="3877800"/>
            <a:ext cx="1611838" cy="1611838"/>
          </a:xfrm>
          <a:custGeom>
            <a:avLst/>
            <a:gdLst/>
            <a:ahLst/>
            <a:cxnLst/>
            <a:rect l="l" t="t" r="r" b="b"/>
            <a:pathLst>
              <a:path w="1611838" h="1611838">
                <a:moveTo>
                  <a:pt x="0" y="0"/>
                </a:moveTo>
                <a:lnTo>
                  <a:pt x="1611838" y="0"/>
                </a:lnTo>
                <a:lnTo>
                  <a:pt x="1611838" y="1611838"/>
                </a:lnTo>
                <a:lnTo>
                  <a:pt x="0" y="1611838"/>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5" name="Freeform 15"/>
          <p:cNvSpPr/>
          <p:nvPr/>
        </p:nvSpPr>
        <p:spPr>
          <a:xfrm>
            <a:off x="10402487" y="4192370"/>
            <a:ext cx="898729" cy="974953"/>
          </a:xfrm>
          <a:custGeom>
            <a:avLst/>
            <a:gdLst/>
            <a:ahLst/>
            <a:cxnLst/>
            <a:rect l="l" t="t" r="r" b="b"/>
            <a:pathLst>
              <a:path w="898729" h="974953">
                <a:moveTo>
                  <a:pt x="0" y="0"/>
                </a:moveTo>
                <a:lnTo>
                  <a:pt x="898730" y="0"/>
                </a:lnTo>
                <a:lnTo>
                  <a:pt x="898730" y="974953"/>
                </a:lnTo>
                <a:lnTo>
                  <a:pt x="0" y="974953"/>
                </a:lnTo>
                <a:lnTo>
                  <a:pt x="0" y="0"/>
                </a:lnTo>
                <a:close/>
              </a:path>
            </a:pathLst>
          </a:custGeom>
          <a:blipFill>
            <a:blip r:embed="rId14">
              <a:extLst>
                <a:ext uri="{96DAC541-7B7A-43D3-8B79-37D633B846F1}">
                  <asvg:svgBlip xmlns:asvg="http://schemas.microsoft.com/office/drawing/2016/SVG/main" xmlns="" r:embed="rId15"/>
                </a:ext>
              </a:extLst>
            </a:blip>
            <a:stretch>
              <a:fillRect/>
            </a:stretch>
          </a:blipFill>
        </p:spPr>
      </p:sp>
      <p:sp>
        <p:nvSpPr>
          <p:cNvPr id="16" name="Freeform 16"/>
          <p:cNvSpPr/>
          <p:nvPr/>
        </p:nvSpPr>
        <p:spPr>
          <a:xfrm>
            <a:off x="13397205" y="3877800"/>
            <a:ext cx="1611838" cy="1611838"/>
          </a:xfrm>
          <a:custGeom>
            <a:avLst/>
            <a:gdLst/>
            <a:ahLst/>
            <a:cxnLst/>
            <a:rect l="l" t="t" r="r" b="b"/>
            <a:pathLst>
              <a:path w="1611838" h="1611838">
                <a:moveTo>
                  <a:pt x="0" y="0"/>
                </a:moveTo>
                <a:lnTo>
                  <a:pt x="1611838" y="0"/>
                </a:lnTo>
                <a:lnTo>
                  <a:pt x="1611838" y="1611838"/>
                </a:lnTo>
                <a:lnTo>
                  <a:pt x="0" y="1611838"/>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7" name="Freeform 17"/>
          <p:cNvSpPr/>
          <p:nvPr/>
        </p:nvSpPr>
        <p:spPr>
          <a:xfrm>
            <a:off x="13717549" y="4237873"/>
            <a:ext cx="971150" cy="891692"/>
          </a:xfrm>
          <a:custGeom>
            <a:avLst/>
            <a:gdLst/>
            <a:ahLst/>
            <a:cxnLst/>
            <a:rect l="l" t="t" r="r" b="b"/>
            <a:pathLst>
              <a:path w="971150" h="891692">
                <a:moveTo>
                  <a:pt x="0" y="0"/>
                </a:moveTo>
                <a:lnTo>
                  <a:pt x="971150" y="0"/>
                </a:lnTo>
                <a:lnTo>
                  <a:pt x="971150" y="891693"/>
                </a:lnTo>
                <a:lnTo>
                  <a:pt x="0" y="891693"/>
                </a:lnTo>
                <a:lnTo>
                  <a:pt x="0" y="0"/>
                </a:lnTo>
                <a:close/>
              </a:path>
            </a:pathLst>
          </a:custGeom>
          <a:blipFill>
            <a:blip r:embed="rId16">
              <a:extLst>
                <a:ext uri="{96DAC541-7B7A-43D3-8B79-37D633B846F1}">
                  <asvg:svgBlip xmlns:asvg="http://schemas.microsoft.com/office/drawing/2016/SVG/main" xmlns="" r:embed="rId17"/>
                </a:ext>
              </a:extLst>
            </a:blip>
            <a:stretch>
              <a:fillRect/>
            </a:stretch>
          </a:blipFill>
        </p:spPr>
      </p:sp>
      <p:sp>
        <p:nvSpPr>
          <p:cNvPr id="18" name="TextBox 18"/>
          <p:cNvSpPr txBox="1"/>
          <p:nvPr/>
        </p:nvSpPr>
        <p:spPr>
          <a:xfrm>
            <a:off x="3537705" y="5907235"/>
            <a:ext cx="1094341" cy="803610"/>
          </a:xfrm>
          <a:prstGeom prst="rect">
            <a:avLst/>
          </a:prstGeom>
        </p:spPr>
        <p:txBody>
          <a:bodyPr lIns="0" tIns="0" rIns="0" bIns="0" rtlCol="0" anchor="t">
            <a:spAutoFit/>
          </a:bodyPr>
          <a:lstStyle/>
          <a:p>
            <a:pPr algn="ctr">
              <a:lnSpc>
                <a:spcPts val="6373"/>
              </a:lnSpc>
            </a:pPr>
            <a:r>
              <a:rPr lang="en-US" sz="4585" b="1">
                <a:solidFill>
                  <a:srgbClr val="FFFFFF"/>
                </a:solidFill>
                <a:latin typeface="Poppins Bold"/>
                <a:ea typeface="Poppins Bold"/>
                <a:cs typeface="Poppins Bold"/>
                <a:sym typeface="Poppins Bold"/>
              </a:rPr>
              <a:t>01</a:t>
            </a:r>
          </a:p>
        </p:txBody>
      </p:sp>
      <p:sp>
        <p:nvSpPr>
          <p:cNvPr id="19" name="TextBox 19"/>
          <p:cNvSpPr txBox="1"/>
          <p:nvPr/>
        </p:nvSpPr>
        <p:spPr>
          <a:xfrm>
            <a:off x="6953866" y="5907235"/>
            <a:ext cx="1094341" cy="803610"/>
          </a:xfrm>
          <a:prstGeom prst="rect">
            <a:avLst/>
          </a:prstGeom>
        </p:spPr>
        <p:txBody>
          <a:bodyPr lIns="0" tIns="0" rIns="0" bIns="0" rtlCol="0" anchor="t">
            <a:spAutoFit/>
          </a:bodyPr>
          <a:lstStyle/>
          <a:p>
            <a:pPr algn="ctr">
              <a:lnSpc>
                <a:spcPts val="6373"/>
              </a:lnSpc>
            </a:pPr>
            <a:r>
              <a:rPr lang="en-US" sz="4585" b="1">
                <a:solidFill>
                  <a:srgbClr val="FFFFFF"/>
                </a:solidFill>
                <a:latin typeface="Poppins Bold"/>
                <a:ea typeface="Poppins Bold"/>
                <a:cs typeface="Poppins Bold"/>
                <a:sym typeface="Poppins Bold"/>
              </a:rPr>
              <a:t>02</a:t>
            </a:r>
          </a:p>
        </p:txBody>
      </p:sp>
      <p:sp>
        <p:nvSpPr>
          <p:cNvPr id="20" name="TextBox 20"/>
          <p:cNvSpPr txBox="1"/>
          <p:nvPr/>
        </p:nvSpPr>
        <p:spPr>
          <a:xfrm>
            <a:off x="10304682" y="5907235"/>
            <a:ext cx="1094341" cy="803610"/>
          </a:xfrm>
          <a:prstGeom prst="rect">
            <a:avLst/>
          </a:prstGeom>
        </p:spPr>
        <p:txBody>
          <a:bodyPr lIns="0" tIns="0" rIns="0" bIns="0" rtlCol="0" anchor="t">
            <a:spAutoFit/>
          </a:bodyPr>
          <a:lstStyle/>
          <a:p>
            <a:pPr algn="ctr">
              <a:lnSpc>
                <a:spcPts val="6373"/>
              </a:lnSpc>
            </a:pPr>
            <a:r>
              <a:rPr lang="en-US" sz="4585" b="1">
                <a:solidFill>
                  <a:srgbClr val="FFFFFF"/>
                </a:solidFill>
                <a:latin typeface="Poppins Bold"/>
                <a:ea typeface="Poppins Bold"/>
                <a:cs typeface="Poppins Bold"/>
                <a:sym typeface="Poppins Bold"/>
              </a:rPr>
              <a:t>03</a:t>
            </a:r>
          </a:p>
        </p:txBody>
      </p:sp>
      <p:sp>
        <p:nvSpPr>
          <p:cNvPr id="21" name="TextBox 21"/>
          <p:cNvSpPr txBox="1"/>
          <p:nvPr/>
        </p:nvSpPr>
        <p:spPr>
          <a:xfrm>
            <a:off x="13655954" y="5970539"/>
            <a:ext cx="1094341" cy="803610"/>
          </a:xfrm>
          <a:prstGeom prst="rect">
            <a:avLst/>
          </a:prstGeom>
        </p:spPr>
        <p:txBody>
          <a:bodyPr lIns="0" tIns="0" rIns="0" bIns="0" rtlCol="0" anchor="t">
            <a:spAutoFit/>
          </a:bodyPr>
          <a:lstStyle/>
          <a:p>
            <a:pPr algn="ctr">
              <a:lnSpc>
                <a:spcPts val="6373"/>
              </a:lnSpc>
            </a:pPr>
            <a:r>
              <a:rPr lang="en-US" sz="4585" b="1">
                <a:solidFill>
                  <a:srgbClr val="FFFFFF"/>
                </a:solidFill>
                <a:latin typeface="Poppins Bold"/>
                <a:ea typeface="Poppins Bold"/>
                <a:cs typeface="Poppins Bold"/>
                <a:sym typeface="Poppins Bold"/>
              </a:rPr>
              <a:t>04</a:t>
            </a:r>
          </a:p>
        </p:txBody>
      </p:sp>
      <p:sp>
        <p:nvSpPr>
          <p:cNvPr id="22" name="TextBox 22"/>
          <p:cNvSpPr txBox="1"/>
          <p:nvPr/>
        </p:nvSpPr>
        <p:spPr>
          <a:xfrm>
            <a:off x="2866440" y="6958495"/>
            <a:ext cx="2436872" cy="996697"/>
          </a:xfrm>
          <a:prstGeom prst="rect">
            <a:avLst/>
          </a:prstGeom>
        </p:spPr>
        <p:txBody>
          <a:bodyPr lIns="0" tIns="0" rIns="0" bIns="0" rtlCol="0" anchor="t">
            <a:spAutoFit/>
          </a:bodyPr>
          <a:lstStyle/>
          <a:p>
            <a:pPr algn="ctr">
              <a:lnSpc>
                <a:spcPts val="3941"/>
              </a:lnSpc>
            </a:pPr>
            <a:r>
              <a:rPr lang="en-US" sz="2699">
                <a:solidFill>
                  <a:srgbClr val="FFFFFF"/>
                </a:solidFill>
                <a:latin typeface="Poppins"/>
                <a:ea typeface="Poppins"/>
                <a:cs typeface="Poppins"/>
                <a:sym typeface="Poppins"/>
              </a:rPr>
              <a:t> Real-time detection</a:t>
            </a:r>
          </a:p>
        </p:txBody>
      </p:sp>
      <p:sp>
        <p:nvSpPr>
          <p:cNvPr id="23" name="TextBox 23"/>
          <p:cNvSpPr txBox="1"/>
          <p:nvPr/>
        </p:nvSpPr>
        <p:spPr>
          <a:xfrm>
            <a:off x="6282015" y="6958495"/>
            <a:ext cx="2436872" cy="996697"/>
          </a:xfrm>
          <a:prstGeom prst="rect">
            <a:avLst/>
          </a:prstGeom>
        </p:spPr>
        <p:txBody>
          <a:bodyPr lIns="0" tIns="0" rIns="0" bIns="0" rtlCol="0" anchor="t">
            <a:spAutoFit/>
          </a:bodyPr>
          <a:lstStyle/>
          <a:p>
            <a:pPr algn="ctr">
              <a:lnSpc>
                <a:spcPts val="3941"/>
              </a:lnSpc>
            </a:pPr>
            <a:r>
              <a:rPr lang="en-US" sz="2699">
                <a:solidFill>
                  <a:srgbClr val="FFFFFF"/>
                </a:solidFill>
                <a:latin typeface="Poppins"/>
                <a:ea typeface="Poppins"/>
                <a:cs typeface="Poppins"/>
                <a:sym typeface="Poppins"/>
              </a:rPr>
              <a:t>Arabic plate recognition</a:t>
            </a:r>
          </a:p>
        </p:txBody>
      </p:sp>
      <p:sp>
        <p:nvSpPr>
          <p:cNvPr id="24" name="TextBox 24"/>
          <p:cNvSpPr txBox="1"/>
          <p:nvPr/>
        </p:nvSpPr>
        <p:spPr>
          <a:xfrm>
            <a:off x="9633416" y="6958495"/>
            <a:ext cx="2800273" cy="1621156"/>
          </a:xfrm>
          <a:prstGeom prst="rect">
            <a:avLst/>
          </a:prstGeom>
        </p:spPr>
        <p:txBody>
          <a:bodyPr lIns="0" tIns="0" rIns="0" bIns="0" rtlCol="0" anchor="t">
            <a:spAutoFit/>
          </a:bodyPr>
          <a:lstStyle/>
          <a:p>
            <a:pPr algn="ctr">
              <a:lnSpc>
                <a:spcPts val="3941"/>
              </a:lnSpc>
            </a:pPr>
            <a:r>
              <a:rPr lang="en-US" sz="2699">
                <a:solidFill>
                  <a:srgbClr val="FFFFFF"/>
                </a:solidFill>
                <a:latin typeface="Poppins"/>
                <a:ea typeface="Poppins"/>
                <a:cs typeface="Poppins"/>
                <a:sym typeface="Poppins"/>
              </a:rPr>
              <a:t>Fast database search</a:t>
            </a:r>
          </a:p>
          <a:p>
            <a:pPr algn="ctr">
              <a:lnSpc>
                <a:spcPts val="2190"/>
              </a:lnSpc>
            </a:pPr>
            <a:endParaRPr lang="en-US" sz="2699">
              <a:solidFill>
                <a:srgbClr val="FFFFFF"/>
              </a:solidFill>
              <a:latin typeface="Poppins"/>
              <a:ea typeface="Poppins"/>
              <a:cs typeface="Poppins"/>
              <a:sym typeface="Poppins"/>
            </a:endParaRPr>
          </a:p>
          <a:p>
            <a:pPr algn="ctr">
              <a:lnSpc>
                <a:spcPts val="2627"/>
              </a:lnSpc>
            </a:pPr>
            <a:endParaRPr lang="en-US" sz="2699">
              <a:solidFill>
                <a:srgbClr val="FFFFFF"/>
              </a:solidFill>
              <a:latin typeface="Poppins"/>
              <a:ea typeface="Poppins"/>
              <a:cs typeface="Poppins"/>
              <a:sym typeface="Poppins"/>
            </a:endParaRPr>
          </a:p>
        </p:txBody>
      </p:sp>
      <p:sp>
        <p:nvSpPr>
          <p:cNvPr id="25" name="TextBox 25"/>
          <p:cNvSpPr txBox="1"/>
          <p:nvPr/>
        </p:nvSpPr>
        <p:spPr>
          <a:xfrm>
            <a:off x="12984688" y="6958495"/>
            <a:ext cx="2436872" cy="1987297"/>
          </a:xfrm>
          <a:prstGeom prst="rect">
            <a:avLst/>
          </a:prstGeom>
        </p:spPr>
        <p:txBody>
          <a:bodyPr lIns="0" tIns="0" rIns="0" bIns="0" rtlCol="0" anchor="t">
            <a:spAutoFit/>
          </a:bodyPr>
          <a:lstStyle/>
          <a:p>
            <a:pPr algn="ctr">
              <a:lnSpc>
                <a:spcPts val="3941"/>
              </a:lnSpc>
            </a:pPr>
            <a:r>
              <a:rPr lang="en-US" sz="2699">
                <a:solidFill>
                  <a:srgbClr val="FFFFFF"/>
                </a:solidFill>
                <a:latin typeface="Poppins"/>
                <a:ea typeface="Poppins"/>
                <a:cs typeface="Poppins"/>
                <a:sym typeface="Poppins"/>
              </a:rPr>
              <a:t>authorized vehicle management</a:t>
            </a:r>
          </a:p>
          <a:p>
            <a:pPr algn="ctr">
              <a:lnSpc>
                <a:spcPts val="3941"/>
              </a:lnSpc>
            </a:pPr>
            <a:endParaRPr lang="en-US" sz="2699">
              <a:solidFill>
                <a:srgbClr val="FFFFFF"/>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021255">
            <a:off x="917609" y="5780776"/>
            <a:ext cx="4259304" cy="8050231"/>
          </a:xfrm>
          <a:custGeom>
            <a:avLst/>
            <a:gdLst/>
            <a:ahLst/>
            <a:cxnLst/>
            <a:rect l="l" t="t" r="r" b="b"/>
            <a:pathLst>
              <a:path w="4259304" h="8050231">
                <a:moveTo>
                  <a:pt x="0" y="0"/>
                </a:moveTo>
                <a:lnTo>
                  <a:pt x="4259304" y="0"/>
                </a:lnTo>
                <a:lnTo>
                  <a:pt x="4259304" y="8050231"/>
                </a:lnTo>
                <a:lnTo>
                  <a:pt x="0" y="805023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5823547" y="1546533"/>
            <a:ext cx="6640906" cy="1610541"/>
          </a:xfrm>
          <a:prstGeom prst="rect">
            <a:avLst/>
          </a:prstGeom>
        </p:spPr>
        <p:txBody>
          <a:bodyPr lIns="0" tIns="0" rIns="0" bIns="0" rtlCol="0" anchor="t">
            <a:spAutoFit/>
          </a:bodyPr>
          <a:lstStyle/>
          <a:p>
            <a:pPr algn="ctr">
              <a:lnSpc>
                <a:spcPts val="11000"/>
              </a:lnSpc>
            </a:pPr>
            <a:r>
              <a:rPr lang="en-US" sz="9734">
                <a:solidFill>
                  <a:srgbClr val="FFFFFF"/>
                </a:solidFill>
                <a:latin typeface="Impact"/>
                <a:ea typeface="Impact"/>
                <a:cs typeface="Impact"/>
                <a:sym typeface="Impact"/>
              </a:rPr>
              <a:t>USE CASES</a:t>
            </a:r>
          </a:p>
        </p:txBody>
      </p:sp>
      <p:sp>
        <p:nvSpPr>
          <p:cNvPr id="4" name="TextBox 4"/>
          <p:cNvSpPr txBox="1"/>
          <p:nvPr/>
        </p:nvSpPr>
        <p:spPr>
          <a:xfrm>
            <a:off x="3368912" y="4065292"/>
            <a:ext cx="4909270" cy="1245679"/>
          </a:xfrm>
          <a:prstGeom prst="rect">
            <a:avLst/>
          </a:prstGeom>
        </p:spPr>
        <p:txBody>
          <a:bodyPr lIns="0" tIns="0" rIns="0" bIns="0" rtlCol="0" anchor="t">
            <a:spAutoFit/>
          </a:bodyPr>
          <a:lstStyle/>
          <a:p>
            <a:pPr marL="800454" lvl="1" indent="-400227" algn="ctr">
              <a:lnSpc>
                <a:spcPts val="5190"/>
              </a:lnSpc>
              <a:buFont typeface="Arial"/>
              <a:buChar char="•"/>
            </a:pPr>
            <a:r>
              <a:rPr lang="en-US" sz="3707" b="1">
                <a:solidFill>
                  <a:srgbClr val="FFFFFF"/>
                </a:solidFill>
                <a:latin typeface="Poppins Bold"/>
                <a:ea typeface="Poppins Bold"/>
                <a:cs typeface="Poppins Bold"/>
                <a:sym typeface="Poppins Bold"/>
              </a:rPr>
              <a:t>University gates</a:t>
            </a:r>
          </a:p>
          <a:p>
            <a:pPr algn="ctr">
              <a:lnSpc>
                <a:spcPts val="4490"/>
              </a:lnSpc>
            </a:pPr>
            <a:endParaRPr lang="en-US" sz="3707" b="1">
              <a:solidFill>
                <a:srgbClr val="FFFFFF"/>
              </a:solidFill>
              <a:latin typeface="Poppins Bold"/>
              <a:ea typeface="Poppins Bold"/>
              <a:cs typeface="Poppins Bold"/>
              <a:sym typeface="Poppins Bold"/>
            </a:endParaRPr>
          </a:p>
        </p:txBody>
      </p:sp>
      <p:sp>
        <p:nvSpPr>
          <p:cNvPr id="5" name="TextBox 5"/>
          <p:cNvSpPr txBox="1"/>
          <p:nvPr/>
        </p:nvSpPr>
        <p:spPr>
          <a:xfrm>
            <a:off x="10656263" y="6046522"/>
            <a:ext cx="5975616" cy="677354"/>
          </a:xfrm>
          <a:prstGeom prst="rect">
            <a:avLst/>
          </a:prstGeom>
        </p:spPr>
        <p:txBody>
          <a:bodyPr lIns="0" tIns="0" rIns="0" bIns="0" rtlCol="0" anchor="t">
            <a:spAutoFit/>
          </a:bodyPr>
          <a:lstStyle/>
          <a:p>
            <a:pPr marL="800454" lvl="1" indent="-400227" algn="ctr">
              <a:lnSpc>
                <a:spcPts val="5190"/>
              </a:lnSpc>
              <a:buFont typeface="Arial"/>
              <a:buChar char="•"/>
            </a:pPr>
            <a:r>
              <a:rPr lang="en-US" sz="3707" b="1">
                <a:solidFill>
                  <a:srgbClr val="FFFFFF"/>
                </a:solidFill>
                <a:latin typeface="Poppins Bold"/>
                <a:ea typeface="Poppins Bold"/>
                <a:cs typeface="Poppins Bold"/>
                <a:sym typeface="Poppins Bold"/>
              </a:rPr>
              <a:t>Corporate campuses</a:t>
            </a:r>
          </a:p>
        </p:txBody>
      </p:sp>
      <p:sp>
        <p:nvSpPr>
          <p:cNvPr id="6" name="TextBox 6"/>
          <p:cNvSpPr txBox="1"/>
          <p:nvPr/>
        </p:nvSpPr>
        <p:spPr>
          <a:xfrm>
            <a:off x="10738260" y="4021477"/>
            <a:ext cx="4713592" cy="1289494"/>
          </a:xfrm>
          <a:prstGeom prst="rect">
            <a:avLst/>
          </a:prstGeom>
        </p:spPr>
        <p:txBody>
          <a:bodyPr lIns="0" tIns="0" rIns="0" bIns="0" rtlCol="0" anchor="t">
            <a:spAutoFit/>
          </a:bodyPr>
          <a:lstStyle/>
          <a:p>
            <a:pPr marL="778864" lvl="1" indent="-389432" algn="ctr">
              <a:lnSpc>
                <a:spcPts val="5050"/>
              </a:lnSpc>
              <a:buFont typeface="Arial"/>
              <a:buChar char="•"/>
            </a:pPr>
            <a:r>
              <a:rPr lang="en-US" sz="3607" b="1">
                <a:solidFill>
                  <a:srgbClr val="FFFFFF"/>
                </a:solidFill>
                <a:latin typeface="Poppins Bold"/>
                <a:ea typeface="Poppins Bold"/>
                <a:cs typeface="Poppins Bold"/>
                <a:sym typeface="Poppins Bold"/>
              </a:rPr>
              <a:t>Residential communities</a:t>
            </a:r>
          </a:p>
        </p:txBody>
      </p:sp>
      <p:sp>
        <p:nvSpPr>
          <p:cNvPr id="7" name="Freeform 7"/>
          <p:cNvSpPr/>
          <p:nvPr/>
        </p:nvSpPr>
        <p:spPr>
          <a:xfrm rot="-5400000">
            <a:off x="14502228" y="5233184"/>
            <a:ext cx="4259304" cy="8050231"/>
          </a:xfrm>
          <a:custGeom>
            <a:avLst/>
            <a:gdLst/>
            <a:ahLst/>
            <a:cxnLst/>
            <a:rect l="l" t="t" r="r" b="b"/>
            <a:pathLst>
              <a:path w="4259304" h="8050231">
                <a:moveTo>
                  <a:pt x="0" y="0"/>
                </a:moveTo>
                <a:lnTo>
                  <a:pt x="4259304" y="0"/>
                </a:lnTo>
                <a:lnTo>
                  <a:pt x="4259304" y="8050232"/>
                </a:lnTo>
                <a:lnTo>
                  <a:pt x="0" y="805023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8" name="Freeform 8"/>
          <p:cNvSpPr/>
          <p:nvPr/>
        </p:nvSpPr>
        <p:spPr>
          <a:xfrm>
            <a:off x="-6337063" y="-3028950"/>
            <a:ext cx="8115300" cy="8115300"/>
          </a:xfrm>
          <a:custGeom>
            <a:avLst/>
            <a:gdLst/>
            <a:ahLst/>
            <a:cxnLst/>
            <a:rect l="l" t="t" r="r" b="b"/>
            <a:pathLst>
              <a:path w="8115300" h="8115300">
                <a:moveTo>
                  <a:pt x="0" y="0"/>
                </a:moveTo>
                <a:lnTo>
                  <a:pt x="8115300" y="0"/>
                </a:lnTo>
                <a:lnTo>
                  <a:pt x="8115300" y="8115300"/>
                </a:lnTo>
                <a:lnTo>
                  <a:pt x="0" y="8115300"/>
                </a:lnTo>
                <a:lnTo>
                  <a:pt x="0" y="0"/>
                </a:lnTo>
                <a:close/>
              </a:path>
            </a:pathLst>
          </a:custGeom>
          <a:blipFill>
            <a:blip r:embed="rId4">
              <a:alphaModFix amt="30000"/>
              <a:extLst>
                <a:ext uri="{96DAC541-7B7A-43D3-8B79-37D633B846F1}">
                  <asvg:svgBlip xmlns:asvg="http://schemas.microsoft.com/office/drawing/2016/SVG/main" xmlns="" r:embed="rId5"/>
                </a:ext>
              </a:extLst>
            </a:blip>
            <a:stretch>
              <a:fillRect/>
            </a:stretch>
          </a:blipFill>
        </p:spPr>
      </p:sp>
      <p:sp>
        <p:nvSpPr>
          <p:cNvPr id="9" name="Freeform 9"/>
          <p:cNvSpPr/>
          <p:nvPr/>
        </p:nvSpPr>
        <p:spPr>
          <a:xfrm>
            <a:off x="14056274" y="-4958226"/>
            <a:ext cx="8115300" cy="8115300"/>
          </a:xfrm>
          <a:custGeom>
            <a:avLst/>
            <a:gdLst/>
            <a:ahLst/>
            <a:cxnLst/>
            <a:rect l="l" t="t" r="r" b="b"/>
            <a:pathLst>
              <a:path w="8115300" h="8115300">
                <a:moveTo>
                  <a:pt x="0" y="0"/>
                </a:moveTo>
                <a:lnTo>
                  <a:pt x="8115300" y="0"/>
                </a:lnTo>
                <a:lnTo>
                  <a:pt x="8115300" y="8115300"/>
                </a:lnTo>
                <a:lnTo>
                  <a:pt x="0" y="8115300"/>
                </a:lnTo>
                <a:lnTo>
                  <a:pt x="0" y="0"/>
                </a:lnTo>
                <a:close/>
              </a:path>
            </a:pathLst>
          </a:custGeom>
          <a:blipFill>
            <a:blip r:embed="rId4">
              <a:alphaModFix amt="30000"/>
              <a:extLst>
                <a:ext uri="{96DAC541-7B7A-43D3-8B79-37D633B846F1}">
                  <asvg:svgBlip xmlns:asvg="http://schemas.microsoft.com/office/drawing/2016/SVG/main" xmlns="" r:embed="rId5"/>
                </a:ext>
              </a:extLst>
            </a:blip>
            <a:stretch>
              <a:fillRect/>
            </a:stretch>
          </a:blipFill>
        </p:spPr>
      </p:sp>
      <p:sp>
        <p:nvSpPr>
          <p:cNvPr id="10" name="TextBox 10"/>
          <p:cNvSpPr txBox="1"/>
          <p:nvPr/>
        </p:nvSpPr>
        <p:spPr>
          <a:xfrm>
            <a:off x="3368912" y="6046522"/>
            <a:ext cx="4909270" cy="677354"/>
          </a:xfrm>
          <a:prstGeom prst="rect">
            <a:avLst/>
          </a:prstGeom>
        </p:spPr>
        <p:txBody>
          <a:bodyPr lIns="0" tIns="0" rIns="0" bIns="0" rtlCol="0" anchor="t">
            <a:spAutoFit/>
          </a:bodyPr>
          <a:lstStyle/>
          <a:p>
            <a:pPr marL="800454" lvl="1" indent="-400227" algn="ctr">
              <a:lnSpc>
                <a:spcPts val="5190"/>
              </a:lnSpc>
              <a:buFont typeface="Arial"/>
              <a:buChar char="•"/>
            </a:pPr>
            <a:r>
              <a:rPr lang="en-US" sz="3707" b="1">
                <a:solidFill>
                  <a:srgbClr val="FFFFFF"/>
                </a:solidFill>
                <a:latin typeface="Poppins Bold"/>
                <a:ea typeface="Poppins Bold"/>
                <a:cs typeface="Poppins Bold"/>
                <a:sym typeface="Poppins Bold"/>
              </a:rPr>
              <a:t>Parking lots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4983476" flipV="1">
            <a:off x="-6694487" y="-2327432"/>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2"/>
            <a:stretch>
              <a:fillRect/>
            </a:stretch>
          </a:blipFill>
        </p:spPr>
      </p:sp>
      <p:sp>
        <p:nvSpPr>
          <p:cNvPr id="3" name="Freeform 3"/>
          <p:cNvSpPr/>
          <p:nvPr/>
        </p:nvSpPr>
        <p:spPr>
          <a:xfrm>
            <a:off x="15707630" y="8425484"/>
            <a:ext cx="6195600" cy="3384081"/>
          </a:xfrm>
          <a:custGeom>
            <a:avLst/>
            <a:gdLst/>
            <a:ahLst/>
            <a:cxnLst/>
            <a:rect l="l" t="t" r="r" b="b"/>
            <a:pathLst>
              <a:path w="6195600" h="3384081">
                <a:moveTo>
                  <a:pt x="0" y="0"/>
                </a:moveTo>
                <a:lnTo>
                  <a:pt x="6195600" y="0"/>
                </a:lnTo>
                <a:lnTo>
                  <a:pt x="6195600" y="3384080"/>
                </a:lnTo>
                <a:lnTo>
                  <a:pt x="0" y="3384080"/>
                </a:lnTo>
                <a:lnTo>
                  <a:pt x="0" y="0"/>
                </a:lnTo>
                <a:close/>
              </a:path>
            </a:pathLst>
          </a:custGeom>
          <a:blipFill>
            <a:blip r:embed="rId3"/>
            <a:stretch>
              <a:fillRect l="-9750" b="-143185"/>
            </a:stretch>
          </a:blipFill>
        </p:spPr>
      </p:sp>
      <p:grpSp>
        <p:nvGrpSpPr>
          <p:cNvPr id="4" name="Group 4"/>
          <p:cNvGrpSpPr/>
          <p:nvPr/>
        </p:nvGrpSpPr>
        <p:grpSpPr>
          <a:xfrm>
            <a:off x="7026837" y="3132575"/>
            <a:ext cx="4235898" cy="6209424"/>
            <a:chOff x="0" y="0"/>
            <a:chExt cx="656251" cy="962002"/>
          </a:xfrm>
        </p:grpSpPr>
        <p:sp>
          <p:nvSpPr>
            <p:cNvPr id="5" name="Freeform 5"/>
            <p:cNvSpPr/>
            <p:nvPr/>
          </p:nvSpPr>
          <p:spPr>
            <a:xfrm>
              <a:off x="0" y="0"/>
              <a:ext cx="656251" cy="962002"/>
            </a:xfrm>
            <a:custGeom>
              <a:avLst/>
              <a:gdLst/>
              <a:ahLst/>
              <a:cxnLst/>
              <a:rect l="l" t="t" r="r" b="b"/>
              <a:pathLst>
                <a:path w="656251" h="962002">
                  <a:moveTo>
                    <a:pt x="42037" y="0"/>
                  </a:moveTo>
                  <a:lnTo>
                    <a:pt x="614215" y="0"/>
                  </a:lnTo>
                  <a:cubicBezTo>
                    <a:pt x="625363" y="0"/>
                    <a:pt x="636056" y="4429"/>
                    <a:pt x="643939" y="12312"/>
                  </a:cubicBezTo>
                  <a:cubicBezTo>
                    <a:pt x="651823" y="20196"/>
                    <a:pt x="656251" y="30888"/>
                    <a:pt x="656251" y="42037"/>
                  </a:cubicBezTo>
                  <a:lnTo>
                    <a:pt x="656251" y="919965"/>
                  </a:lnTo>
                  <a:cubicBezTo>
                    <a:pt x="656251" y="943182"/>
                    <a:pt x="637431" y="962002"/>
                    <a:pt x="614215" y="962002"/>
                  </a:cubicBezTo>
                  <a:lnTo>
                    <a:pt x="42037" y="962002"/>
                  </a:lnTo>
                  <a:cubicBezTo>
                    <a:pt x="30888" y="962002"/>
                    <a:pt x="20196" y="957573"/>
                    <a:pt x="12312" y="949690"/>
                  </a:cubicBezTo>
                  <a:cubicBezTo>
                    <a:pt x="4429" y="941807"/>
                    <a:pt x="0" y="931114"/>
                    <a:pt x="0" y="919965"/>
                  </a:cubicBezTo>
                  <a:lnTo>
                    <a:pt x="0" y="42037"/>
                  </a:lnTo>
                  <a:cubicBezTo>
                    <a:pt x="0" y="30888"/>
                    <a:pt x="4429" y="20196"/>
                    <a:pt x="12312" y="12312"/>
                  </a:cubicBezTo>
                  <a:cubicBezTo>
                    <a:pt x="20196" y="4429"/>
                    <a:pt x="30888" y="0"/>
                    <a:pt x="42037" y="0"/>
                  </a:cubicBezTo>
                  <a:close/>
                </a:path>
              </a:pathLst>
            </a:custGeom>
            <a:blipFill>
              <a:blip r:embed="rId4"/>
              <a:stretch>
                <a:fillRect l="-75136" r="-168770"/>
              </a:stretch>
            </a:blipFill>
          </p:spPr>
        </p:sp>
      </p:grpSp>
      <p:grpSp>
        <p:nvGrpSpPr>
          <p:cNvPr id="6" name="Group 6"/>
          <p:cNvGrpSpPr/>
          <p:nvPr/>
        </p:nvGrpSpPr>
        <p:grpSpPr>
          <a:xfrm>
            <a:off x="550652" y="3392418"/>
            <a:ext cx="6188862" cy="2382863"/>
            <a:chOff x="0" y="0"/>
            <a:chExt cx="1629988" cy="627585"/>
          </a:xfrm>
        </p:grpSpPr>
        <p:sp>
          <p:nvSpPr>
            <p:cNvPr id="7" name="Freeform 7"/>
            <p:cNvSpPr/>
            <p:nvPr/>
          </p:nvSpPr>
          <p:spPr>
            <a:xfrm>
              <a:off x="0" y="0"/>
              <a:ext cx="1629988" cy="627585"/>
            </a:xfrm>
            <a:custGeom>
              <a:avLst/>
              <a:gdLst/>
              <a:ahLst/>
              <a:cxnLst/>
              <a:rect l="l" t="t" r="r" b="b"/>
              <a:pathLst>
                <a:path w="1629988" h="627585">
                  <a:moveTo>
                    <a:pt x="25019" y="0"/>
                  </a:moveTo>
                  <a:lnTo>
                    <a:pt x="1604970" y="0"/>
                  </a:lnTo>
                  <a:cubicBezTo>
                    <a:pt x="1611605" y="0"/>
                    <a:pt x="1617969" y="2636"/>
                    <a:pt x="1622661" y="7328"/>
                  </a:cubicBezTo>
                  <a:cubicBezTo>
                    <a:pt x="1627353" y="12020"/>
                    <a:pt x="1629988" y="18383"/>
                    <a:pt x="1629988" y="25019"/>
                  </a:cubicBezTo>
                  <a:lnTo>
                    <a:pt x="1629988" y="602566"/>
                  </a:lnTo>
                  <a:cubicBezTo>
                    <a:pt x="1629988" y="609202"/>
                    <a:pt x="1627353" y="615565"/>
                    <a:pt x="1622661" y="620257"/>
                  </a:cubicBezTo>
                  <a:cubicBezTo>
                    <a:pt x="1617969" y="624949"/>
                    <a:pt x="1611605" y="627585"/>
                    <a:pt x="1604970" y="627585"/>
                  </a:cubicBezTo>
                  <a:lnTo>
                    <a:pt x="25019" y="627585"/>
                  </a:lnTo>
                  <a:cubicBezTo>
                    <a:pt x="18383" y="627585"/>
                    <a:pt x="12020" y="624949"/>
                    <a:pt x="7328" y="620257"/>
                  </a:cubicBezTo>
                  <a:cubicBezTo>
                    <a:pt x="2636" y="615565"/>
                    <a:pt x="0" y="609202"/>
                    <a:pt x="0" y="60256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id="8" name="TextBox 8"/>
            <p:cNvSpPr txBox="1"/>
            <p:nvPr/>
          </p:nvSpPr>
          <p:spPr>
            <a:xfrm>
              <a:off x="0" y="-57150"/>
              <a:ext cx="1629988" cy="684735"/>
            </a:xfrm>
            <a:prstGeom prst="rect">
              <a:avLst/>
            </a:prstGeom>
          </p:spPr>
          <p:txBody>
            <a:bodyPr lIns="50800" tIns="50800" rIns="50800" bIns="50800" rtlCol="0" anchor="ctr"/>
            <a:lstStyle/>
            <a:p>
              <a:pPr algn="ctr">
                <a:lnSpc>
                  <a:spcPts val="4199"/>
                </a:lnSpc>
              </a:pPr>
              <a:r>
                <a:rPr lang="en-US" sz="2999" b="1">
                  <a:solidFill>
                    <a:srgbClr val="FFFFFF"/>
                  </a:solidFill>
                  <a:latin typeface="Lato Bold"/>
                  <a:ea typeface="Lato Bold"/>
                  <a:cs typeface="Lato Bold"/>
                  <a:sym typeface="Lato Bold"/>
                </a:rPr>
                <a:t>Integration with smart gates and barriers for automated access control</a:t>
              </a:r>
            </a:p>
            <a:p>
              <a:pPr algn="ctr">
                <a:lnSpc>
                  <a:spcPts val="4199"/>
                </a:lnSpc>
              </a:pPr>
              <a:endParaRPr lang="en-US" sz="2999" b="1">
                <a:solidFill>
                  <a:srgbClr val="FFFFFF"/>
                </a:solidFill>
                <a:latin typeface="Lato Bold"/>
                <a:ea typeface="Lato Bold"/>
                <a:cs typeface="Lato Bold"/>
                <a:sym typeface="Lato Bold"/>
              </a:endParaRPr>
            </a:p>
          </p:txBody>
        </p:sp>
      </p:grpSp>
      <p:grpSp>
        <p:nvGrpSpPr>
          <p:cNvPr id="9" name="Group 9"/>
          <p:cNvGrpSpPr/>
          <p:nvPr/>
        </p:nvGrpSpPr>
        <p:grpSpPr>
          <a:xfrm>
            <a:off x="550652" y="6237288"/>
            <a:ext cx="6188862" cy="3021012"/>
            <a:chOff x="0" y="0"/>
            <a:chExt cx="1629988" cy="795658"/>
          </a:xfrm>
        </p:grpSpPr>
        <p:sp>
          <p:nvSpPr>
            <p:cNvPr id="10" name="Freeform 10"/>
            <p:cNvSpPr/>
            <p:nvPr/>
          </p:nvSpPr>
          <p:spPr>
            <a:xfrm>
              <a:off x="0" y="0"/>
              <a:ext cx="1629988" cy="795658"/>
            </a:xfrm>
            <a:custGeom>
              <a:avLst/>
              <a:gdLst/>
              <a:ahLst/>
              <a:cxnLst/>
              <a:rect l="l" t="t" r="r" b="b"/>
              <a:pathLst>
                <a:path w="1629988" h="795658">
                  <a:moveTo>
                    <a:pt x="25019" y="0"/>
                  </a:moveTo>
                  <a:lnTo>
                    <a:pt x="1604970" y="0"/>
                  </a:lnTo>
                  <a:cubicBezTo>
                    <a:pt x="1611605" y="0"/>
                    <a:pt x="1617969" y="2636"/>
                    <a:pt x="1622661" y="7328"/>
                  </a:cubicBezTo>
                  <a:cubicBezTo>
                    <a:pt x="1627353" y="12020"/>
                    <a:pt x="1629988" y="18383"/>
                    <a:pt x="1629988" y="25019"/>
                  </a:cubicBezTo>
                  <a:lnTo>
                    <a:pt x="1629988" y="770639"/>
                  </a:lnTo>
                  <a:cubicBezTo>
                    <a:pt x="1629988" y="777274"/>
                    <a:pt x="1627353" y="783638"/>
                    <a:pt x="1622661" y="788330"/>
                  </a:cubicBezTo>
                  <a:cubicBezTo>
                    <a:pt x="1617969" y="793022"/>
                    <a:pt x="1611605" y="795658"/>
                    <a:pt x="1604970" y="795658"/>
                  </a:cubicBezTo>
                  <a:lnTo>
                    <a:pt x="25019" y="795658"/>
                  </a:lnTo>
                  <a:cubicBezTo>
                    <a:pt x="18383" y="795658"/>
                    <a:pt x="12020" y="793022"/>
                    <a:pt x="7328" y="788330"/>
                  </a:cubicBezTo>
                  <a:cubicBezTo>
                    <a:pt x="2636" y="783638"/>
                    <a:pt x="0" y="777274"/>
                    <a:pt x="0" y="770639"/>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id="11" name="TextBox 11"/>
            <p:cNvSpPr txBox="1"/>
            <p:nvPr/>
          </p:nvSpPr>
          <p:spPr>
            <a:xfrm>
              <a:off x="0" y="-38100"/>
              <a:ext cx="1629988" cy="833758"/>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1548485" y="3132575"/>
            <a:ext cx="6188862" cy="2642705"/>
            <a:chOff x="0" y="0"/>
            <a:chExt cx="1629988" cy="696021"/>
          </a:xfrm>
        </p:grpSpPr>
        <p:sp>
          <p:nvSpPr>
            <p:cNvPr id="13" name="Freeform 13"/>
            <p:cNvSpPr/>
            <p:nvPr/>
          </p:nvSpPr>
          <p:spPr>
            <a:xfrm>
              <a:off x="0" y="0"/>
              <a:ext cx="1629988" cy="696021"/>
            </a:xfrm>
            <a:custGeom>
              <a:avLst/>
              <a:gdLst/>
              <a:ahLst/>
              <a:cxnLst/>
              <a:rect l="l" t="t" r="r" b="b"/>
              <a:pathLst>
                <a:path w="1629988" h="696021">
                  <a:moveTo>
                    <a:pt x="25019" y="0"/>
                  </a:moveTo>
                  <a:lnTo>
                    <a:pt x="1604970" y="0"/>
                  </a:lnTo>
                  <a:cubicBezTo>
                    <a:pt x="1611605" y="0"/>
                    <a:pt x="1617969" y="2636"/>
                    <a:pt x="1622661" y="7328"/>
                  </a:cubicBezTo>
                  <a:cubicBezTo>
                    <a:pt x="1627353" y="12020"/>
                    <a:pt x="1629988" y="18383"/>
                    <a:pt x="1629988" y="25019"/>
                  </a:cubicBezTo>
                  <a:lnTo>
                    <a:pt x="1629988" y="671002"/>
                  </a:lnTo>
                  <a:cubicBezTo>
                    <a:pt x="1629988" y="677638"/>
                    <a:pt x="1627353" y="684001"/>
                    <a:pt x="1622661" y="688693"/>
                  </a:cubicBezTo>
                  <a:cubicBezTo>
                    <a:pt x="1617969" y="693385"/>
                    <a:pt x="1611605" y="696021"/>
                    <a:pt x="1604970" y="696021"/>
                  </a:cubicBezTo>
                  <a:lnTo>
                    <a:pt x="25019" y="696021"/>
                  </a:lnTo>
                  <a:cubicBezTo>
                    <a:pt x="18383" y="696021"/>
                    <a:pt x="12020" y="693385"/>
                    <a:pt x="7328" y="688693"/>
                  </a:cubicBezTo>
                  <a:cubicBezTo>
                    <a:pt x="2636" y="684001"/>
                    <a:pt x="0" y="677638"/>
                    <a:pt x="0" y="671002"/>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id="14" name="TextBox 14"/>
            <p:cNvSpPr txBox="1"/>
            <p:nvPr/>
          </p:nvSpPr>
          <p:spPr>
            <a:xfrm>
              <a:off x="0" y="-38100"/>
              <a:ext cx="1629988" cy="73412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1548485" y="6380949"/>
            <a:ext cx="6188862" cy="2877351"/>
            <a:chOff x="0" y="0"/>
            <a:chExt cx="1629988" cy="757821"/>
          </a:xfrm>
        </p:grpSpPr>
        <p:sp>
          <p:nvSpPr>
            <p:cNvPr id="16" name="Freeform 16"/>
            <p:cNvSpPr/>
            <p:nvPr/>
          </p:nvSpPr>
          <p:spPr>
            <a:xfrm>
              <a:off x="0" y="0"/>
              <a:ext cx="1629988" cy="757821"/>
            </a:xfrm>
            <a:custGeom>
              <a:avLst/>
              <a:gdLst/>
              <a:ahLst/>
              <a:cxnLst/>
              <a:rect l="l" t="t" r="r" b="b"/>
              <a:pathLst>
                <a:path w="1629988" h="757821">
                  <a:moveTo>
                    <a:pt x="25019" y="0"/>
                  </a:moveTo>
                  <a:lnTo>
                    <a:pt x="1604970" y="0"/>
                  </a:lnTo>
                  <a:cubicBezTo>
                    <a:pt x="1611605" y="0"/>
                    <a:pt x="1617969" y="2636"/>
                    <a:pt x="1622661" y="7328"/>
                  </a:cubicBezTo>
                  <a:cubicBezTo>
                    <a:pt x="1627353" y="12020"/>
                    <a:pt x="1629988" y="18383"/>
                    <a:pt x="1629988" y="25019"/>
                  </a:cubicBezTo>
                  <a:lnTo>
                    <a:pt x="1629988" y="732802"/>
                  </a:lnTo>
                  <a:cubicBezTo>
                    <a:pt x="1629988" y="739437"/>
                    <a:pt x="1627353" y="745801"/>
                    <a:pt x="1622661" y="750493"/>
                  </a:cubicBezTo>
                  <a:cubicBezTo>
                    <a:pt x="1617969" y="755185"/>
                    <a:pt x="1611605" y="757821"/>
                    <a:pt x="1604970" y="757821"/>
                  </a:cubicBezTo>
                  <a:lnTo>
                    <a:pt x="25019" y="757821"/>
                  </a:lnTo>
                  <a:cubicBezTo>
                    <a:pt x="18383" y="757821"/>
                    <a:pt x="12020" y="755185"/>
                    <a:pt x="7328" y="750493"/>
                  </a:cubicBezTo>
                  <a:cubicBezTo>
                    <a:pt x="2636" y="745801"/>
                    <a:pt x="0" y="739437"/>
                    <a:pt x="0" y="732802"/>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id="17" name="TextBox 17"/>
            <p:cNvSpPr txBox="1"/>
            <p:nvPr/>
          </p:nvSpPr>
          <p:spPr>
            <a:xfrm>
              <a:off x="0" y="-38100"/>
              <a:ext cx="1629988" cy="795921"/>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4525413" y="935475"/>
            <a:ext cx="9237174" cy="923925"/>
          </a:xfrm>
          <a:prstGeom prst="rect">
            <a:avLst/>
          </a:prstGeom>
        </p:spPr>
        <p:txBody>
          <a:bodyPr lIns="0" tIns="0" rIns="0" bIns="0" rtlCol="0" anchor="t">
            <a:spAutoFit/>
          </a:bodyPr>
          <a:lstStyle/>
          <a:p>
            <a:pPr algn="ctr">
              <a:lnSpc>
                <a:spcPts val="6600"/>
              </a:lnSpc>
            </a:pPr>
            <a:r>
              <a:rPr lang="en-US" sz="6000" b="1">
                <a:solidFill>
                  <a:srgbClr val="FBF9F1"/>
                </a:solidFill>
                <a:latin typeface="Poppins Bold"/>
                <a:ea typeface="Poppins Bold"/>
                <a:cs typeface="Poppins Bold"/>
                <a:sym typeface="Poppins Bold"/>
              </a:rPr>
              <a:t>FUTURE WORK</a:t>
            </a:r>
          </a:p>
        </p:txBody>
      </p:sp>
      <p:sp>
        <p:nvSpPr>
          <p:cNvPr id="19" name="TextBox 19"/>
          <p:cNvSpPr txBox="1"/>
          <p:nvPr/>
        </p:nvSpPr>
        <p:spPr>
          <a:xfrm>
            <a:off x="944302" y="6751365"/>
            <a:ext cx="5445149" cy="2094230"/>
          </a:xfrm>
          <a:prstGeom prst="rect">
            <a:avLst/>
          </a:prstGeom>
        </p:spPr>
        <p:txBody>
          <a:bodyPr lIns="0" tIns="0" rIns="0" bIns="0" rtlCol="0" anchor="t">
            <a:spAutoFit/>
          </a:bodyPr>
          <a:lstStyle/>
          <a:p>
            <a:pPr algn="l">
              <a:lnSpc>
                <a:spcPts val="4199"/>
              </a:lnSpc>
            </a:pPr>
            <a:r>
              <a:rPr lang="en-US" sz="2999" b="1">
                <a:solidFill>
                  <a:srgbClr val="FBF9F1"/>
                </a:solidFill>
                <a:latin typeface="Lato Bold"/>
                <a:ea typeface="Lato Bold"/>
                <a:cs typeface="Lato Bold"/>
                <a:sym typeface="Lato Bold"/>
              </a:rPr>
              <a:t>Enhanced model training for diverse lighting and weather conditions.</a:t>
            </a:r>
          </a:p>
          <a:p>
            <a:pPr algn="l">
              <a:lnSpc>
                <a:spcPts val="4339"/>
              </a:lnSpc>
              <a:spcBef>
                <a:spcPct val="0"/>
              </a:spcBef>
            </a:pPr>
            <a:endParaRPr lang="en-US" sz="2999" b="1">
              <a:solidFill>
                <a:srgbClr val="FBF9F1"/>
              </a:solidFill>
              <a:latin typeface="Lato Bold"/>
              <a:ea typeface="Lato Bold"/>
              <a:cs typeface="Lato Bold"/>
              <a:sym typeface="Lato Bold"/>
            </a:endParaRPr>
          </a:p>
        </p:txBody>
      </p:sp>
      <p:sp>
        <p:nvSpPr>
          <p:cNvPr id="20" name="TextBox 20"/>
          <p:cNvSpPr txBox="1"/>
          <p:nvPr/>
        </p:nvSpPr>
        <p:spPr>
          <a:xfrm>
            <a:off x="11942135" y="3502991"/>
            <a:ext cx="5445149" cy="2076450"/>
          </a:xfrm>
          <a:prstGeom prst="rect">
            <a:avLst/>
          </a:prstGeom>
        </p:spPr>
        <p:txBody>
          <a:bodyPr lIns="0" tIns="0" rIns="0" bIns="0" rtlCol="0" anchor="t">
            <a:spAutoFit/>
          </a:bodyPr>
          <a:lstStyle/>
          <a:p>
            <a:pPr algn="l">
              <a:lnSpc>
                <a:spcPts val="4199"/>
              </a:lnSpc>
            </a:pPr>
            <a:r>
              <a:rPr lang="en-US" sz="2999" b="1">
                <a:solidFill>
                  <a:srgbClr val="FBF9F1"/>
                </a:solidFill>
                <a:latin typeface="Lato Bold"/>
                <a:ea typeface="Lato Bold"/>
                <a:cs typeface="Lato Bold"/>
                <a:sym typeface="Lato Bold"/>
              </a:rPr>
              <a:t>Expansion to support multi-vehicle detection in crowded scenes</a:t>
            </a:r>
          </a:p>
          <a:p>
            <a:pPr algn="l">
              <a:lnSpc>
                <a:spcPts val="4199"/>
              </a:lnSpc>
              <a:spcBef>
                <a:spcPct val="0"/>
              </a:spcBef>
            </a:pPr>
            <a:endParaRPr lang="en-US" sz="2999" b="1">
              <a:solidFill>
                <a:srgbClr val="FBF9F1"/>
              </a:solidFill>
              <a:latin typeface="Lato Bold"/>
              <a:ea typeface="Lato Bold"/>
              <a:cs typeface="Lato Bold"/>
              <a:sym typeface="Lato Bold"/>
            </a:endParaRPr>
          </a:p>
        </p:txBody>
      </p:sp>
      <p:sp>
        <p:nvSpPr>
          <p:cNvPr id="21" name="TextBox 21"/>
          <p:cNvSpPr txBox="1"/>
          <p:nvPr/>
        </p:nvSpPr>
        <p:spPr>
          <a:xfrm>
            <a:off x="12221674" y="7187355"/>
            <a:ext cx="5795213" cy="1726111"/>
          </a:xfrm>
          <a:prstGeom prst="rect">
            <a:avLst/>
          </a:prstGeom>
        </p:spPr>
        <p:txBody>
          <a:bodyPr lIns="0" tIns="0" rIns="0" bIns="0" rtlCol="0" anchor="t">
            <a:spAutoFit/>
          </a:bodyPr>
          <a:lstStyle/>
          <a:p>
            <a:pPr algn="l">
              <a:lnSpc>
                <a:spcPts val="4610"/>
              </a:lnSpc>
            </a:pPr>
            <a:r>
              <a:rPr lang="en-US" sz="3292" b="1">
                <a:solidFill>
                  <a:srgbClr val="FBF9F1"/>
                </a:solidFill>
                <a:latin typeface="Lato Bold"/>
                <a:ea typeface="Lato Bold"/>
                <a:cs typeface="Lato Bold"/>
                <a:sym typeface="Lato Bold"/>
              </a:rPr>
              <a:t>Mobile app for remote monitoring and alerts</a:t>
            </a:r>
          </a:p>
          <a:p>
            <a:pPr algn="l">
              <a:lnSpc>
                <a:spcPts val="4610"/>
              </a:lnSpc>
              <a:spcBef>
                <a:spcPct val="0"/>
              </a:spcBef>
            </a:pPr>
            <a:endParaRPr lang="en-US" sz="3292" b="1">
              <a:solidFill>
                <a:srgbClr val="FBF9F1"/>
              </a:solidFill>
              <a:latin typeface="Lato Bold"/>
              <a:ea typeface="Lato Bold"/>
              <a:cs typeface="Lato Bold"/>
              <a:sym typeface="Lato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226844" y="3458714"/>
            <a:ext cx="14700531" cy="4364144"/>
          </a:xfrm>
          <a:prstGeom prst="rect">
            <a:avLst/>
          </a:prstGeom>
        </p:spPr>
        <p:txBody>
          <a:bodyPr lIns="0" tIns="0" rIns="0" bIns="0" rtlCol="0" anchor="t">
            <a:spAutoFit/>
          </a:bodyPr>
          <a:lstStyle/>
          <a:p>
            <a:pPr algn="ctr">
              <a:lnSpc>
                <a:spcPts val="4954"/>
              </a:lnSpc>
            </a:pPr>
            <a:r>
              <a:rPr lang="en-US" sz="3077" spc="132">
                <a:solidFill>
                  <a:srgbClr val="FFFFFF"/>
                </a:solidFill>
                <a:latin typeface="Fira Sans"/>
                <a:ea typeface="Fira Sans"/>
                <a:cs typeface="Fira Sans"/>
                <a:sym typeface="Fira Sans"/>
              </a:rPr>
              <a:t>Our project presents an intelligent system that detects and recognizes Egyptian car plates in real time using computer vision and OCR technologies. It accurately reads Arabic and numeric characters and retrieves related driver and vehicle information from a local database. offers a smooth user experience, and proves that artificial intelligence can enhance security, reduce human error, and automate vehicle identification processes efficiently</a:t>
            </a:r>
          </a:p>
        </p:txBody>
      </p:sp>
      <p:sp>
        <p:nvSpPr>
          <p:cNvPr id="4" name="TextBox 4"/>
          <p:cNvSpPr txBox="1"/>
          <p:nvPr/>
        </p:nvSpPr>
        <p:spPr>
          <a:xfrm>
            <a:off x="4784487" y="1828323"/>
            <a:ext cx="8719027" cy="1403873"/>
          </a:xfrm>
          <a:prstGeom prst="rect">
            <a:avLst/>
          </a:prstGeom>
        </p:spPr>
        <p:txBody>
          <a:bodyPr lIns="0" tIns="0" rIns="0" bIns="0" rtlCol="0" anchor="t">
            <a:spAutoFit/>
          </a:bodyPr>
          <a:lstStyle/>
          <a:p>
            <a:pPr algn="ctr">
              <a:lnSpc>
                <a:spcPts val="10296"/>
              </a:lnSpc>
              <a:spcBef>
                <a:spcPct val="0"/>
              </a:spcBef>
            </a:pPr>
            <a:r>
              <a:rPr lang="en-US" sz="7354" b="1">
                <a:solidFill>
                  <a:srgbClr val="FFFFFF"/>
                </a:solidFill>
                <a:latin typeface="Alegreya Sans SC Bold"/>
                <a:ea typeface="Alegreya Sans SC Bold"/>
                <a:cs typeface="Alegreya Sans SC Bold"/>
                <a:sym typeface="Alegreya Sans SC Bold"/>
              </a:rPr>
              <a:t>Conclusion </a:t>
            </a:r>
          </a:p>
        </p:txBody>
      </p:sp>
      <p:sp>
        <p:nvSpPr>
          <p:cNvPr id="5" name="Freeform 5">
            <a:extLst>
              <a:ext uri="{C183D7F6-B498-43B3-948B-1728B52AA6E4}">
                <adec:decorative xmlns:adec="http://schemas.microsoft.com/office/drawing/2017/decorative" xmlns=""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Freeform 6">
            <a:extLst>
              <a:ext uri="{C183D7F6-B498-43B3-948B-1728B52AA6E4}">
                <adec:decorative xmlns:adec="http://schemas.microsoft.com/office/drawing/2017/decorative" xmlns=""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7" name="Freeform 7">
            <a:extLst>
              <a:ext uri="{C183D7F6-B498-43B3-948B-1728B52AA6E4}">
                <adec:decorative xmlns:adec="http://schemas.microsoft.com/office/drawing/2017/decorative" xmlns=""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8" name="Freeform 8">
            <a:extLst>
              <a:ext uri="{C183D7F6-B498-43B3-948B-1728B52AA6E4}">
                <adec:decorative xmlns:adec="http://schemas.microsoft.com/office/drawing/2017/decorative" xmlns=""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10">
              <a:extLst>
                <a:ext uri="{96DAC541-7B7A-43D3-8B79-37D633B846F1}">
                  <asvg:svgBlip xmlns:asvg="http://schemas.microsoft.com/office/drawing/2016/SVG/main" xmlns="" r:embed="rId11"/>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2578375">
            <a:off x="8323700" y="-4291982"/>
            <a:ext cx="15959856" cy="8583964"/>
          </a:xfrm>
          <a:custGeom>
            <a:avLst/>
            <a:gdLst/>
            <a:ahLst/>
            <a:cxnLst/>
            <a:rect l="l" t="t" r="r" b="b"/>
            <a:pathLst>
              <a:path w="15959856" h="8583964">
                <a:moveTo>
                  <a:pt x="0" y="0"/>
                </a:moveTo>
                <a:lnTo>
                  <a:pt x="15959857" y="0"/>
                </a:lnTo>
                <a:lnTo>
                  <a:pt x="15959857" y="8583964"/>
                </a:lnTo>
                <a:lnTo>
                  <a:pt x="0" y="858396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1984372" y="3726507"/>
            <a:ext cx="14319257" cy="2548236"/>
          </a:xfrm>
          <a:prstGeom prst="rect">
            <a:avLst/>
          </a:prstGeom>
        </p:spPr>
        <p:txBody>
          <a:bodyPr lIns="0" tIns="0" rIns="0" bIns="0" rtlCol="0" anchor="t">
            <a:spAutoFit/>
          </a:bodyPr>
          <a:lstStyle/>
          <a:p>
            <a:pPr algn="ctr">
              <a:lnSpc>
                <a:spcPts val="20851"/>
              </a:lnSpc>
            </a:pPr>
            <a:r>
              <a:rPr lang="en-US" sz="14893">
                <a:solidFill>
                  <a:srgbClr val="FFFFFF"/>
                </a:solidFill>
                <a:latin typeface="Anton"/>
                <a:ea typeface="Anton"/>
                <a:cs typeface="Anton"/>
                <a:sym typeface="Anton"/>
              </a:rPr>
              <a:t>THANK YOU</a:t>
            </a:r>
          </a:p>
        </p:txBody>
      </p:sp>
      <p:sp>
        <p:nvSpPr>
          <p:cNvPr id="4" name="Freeform 4"/>
          <p:cNvSpPr/>
          <p:nvPr/>
        </p:nvSpPr>
        <p:spPr>
          <a:xfrm rot="1366517">
            <a:off x="-1768901" y="4979430"/>
            <a:ext cx="12307770" cy="7200900"/>
          </a:xfrm>
          <a:custGeom>
            <a:avLst/>
            <a:gdLst/>
            <a:ahLst/>
            <a:cxnLst/>
            <a:rect l="l" t="t" r="r" b="b"/>
            <a:pathLst>
              <a:path w="12307770" h="7200900">
                <a:moveTo>
                  <a:pt x="0" y="0"/>
                </a:moveTo>
                <a:lnTo>
                  <a:pt x="12307770" y="0"/>
                </a:lnTo>
                <a:lnTo>
                  <a:pt x="12307770" y="7200900"/>
                </a:lnTo>
                <a:lnTo>
                  <a:pt x="0" y="72009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400</Words>
  <Application>Microsoft Office PowerPoint</Application>
  <PresentationFormat>Custom</PresentationFormat>
  <Paragraphs>113</Paragraphs>
  <Slides>15</Slides>
  <Notes>0</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15</vt:i4>
      </vt:variant>
    </vt:vector>
  </HeadingPairs>
  <TitlesOfParts>
    <vt:vector size="38" baseType="lpstr">
      <vt:lpstr>Arial</vt:lpstr>
      <vt:lpstr>Canva Sans Bold</vt:lpstr>
      <vt:lpstr>Inter</vt:lpstr>
      <vt:lpstr>Calibri</vt:lpstr>
      <vt:lpstr>Agrandir Medium</vt:lpstr>
      <vt:lpstr>League Spartan</vt:lpstr>
      <vt:lpstr>Anton</vt:lpstr>
      <vt:lpstr>Poppins Bold</vt:lpstr>
      <vt:lpstr>Bebas Neue Bold</vt:lpstr>
      <vt:lpstr>Alegreya Sans SC Bold</vt:lpstr>
      <vt:lpstr>Impact</vt:lpstr>
      <vt:lpstr>Times New Roman</vt:lpstr>
      <vt:lpstr>Tomorrow</vt:lpstr>
      <vt:lpstr>Alegreya Heavy</vt:lpstr>
      <vt:lpstr>Inter Bold</vt:lpstr>
      <vt:lpstr>Poppins</vt:lpstr>
      <vt:lpstr>Bobby Jones Soft</vt:lpstr>
      <vt:lpstr>Fira Sans</vt:lpstr>
      <vt:lpstr>Quicksand</vt:lpstr>
      <vt:lpstr>Be Vietnam Ultra-Bold</vt:lpstr>
      <vt:lpstr>Open Sans 2 Bold</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Modern Tech Company Presentation</dc:title>
  <cp:lastModifiedBy>HP</cp:lastModifiedBy>
  <cp:revision>3</cp:revision>
  <dcterms:created xsi:type="dcterms:W3CDTF">2006-08-16T00:00:00Z</dcterms:created>
  <dcterms:modified xsi:type="dcterms:W3CDTF">2025-06-14T14:52:47Z</dcterms:modified>
  <dc:identifier>DAGqLlrN0YA</dc:identifier>
</cp:coreProperties>
</file>